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9"/>
  </p:notesMasterIdLst>
  <p:sldIdLst>
    <p:sldId id="28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86" r:id="rId17"/>
    <p:sldId id="287" r:id="rId18"/>
    <p:sldId id="288" r:id="rId19"/>
    <p:sldId id="289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4" y="1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8CCDC-6FAF-4601-8837-9DF4C654D3A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4B2BD-644A-4C7C-BAD1-033E9C8D3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177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34B2BD-644A-4C7C-BAD1-033E9C8D30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02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34B2BD-644A-4C7C-BAD1-033E9C8D30E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78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0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66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613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93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18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0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05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138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18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24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62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23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hyperlink" Target="Image%20ref.%20https:/www.google.com/url?sa=t&amp;source=web&amp;rct=j&amp;url=https%3A%2F%2Fwww.cantorsparadise.com%2Felementary-results-in-random-matrix-theory-5abe7dab11ef&amp;ved=0CBkQjhxqFwoTCNjvyb3ej5QDFQAAAAAdAAAAABAf&amp;opi=89978449" TargetMode="External"/><Relationship Id="rId4" Type="http://schemas.openxmlformats.org/officeDocument/2006/relationships/hyperlink" Target="https://www.google.com/url?sa=t&amp;source=web&amp;rct=j&amp;url=https%3A%2F%2Fwww.researchgate.net%2Ffigure%2FA-simple-visualization-of-Principal-Component-Analysis-PCA-To-describe-the-position-of_fig3_372888730&amp;ved=0CBkQjhxqFwoTCIj0nYHfj5QDFQAAAAAdAAAAABAF&amp;opi=89978449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0.png"/><Relationship Id="rId7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CD92682-B3D2-26AD-451A-6D44E7DC0F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7729" y="2005346"/>
            <a:ext cx="10598877" cy="1759665"/>
          </a:xfrm>
        </p:spPr>
        <p:txBody>
          <a:bodyPr>
            <a:noAutofit/>
          </a:bodyPr>
          <a:lstStyle/>
          <a:p>
            <a:r>
              <a:rPr sz="4800" dirty="0"/>
              <a:t>The Intrinsic Dimensionality of the Stock Market:</a:t>
            </a:r>
          </a:p>
          <a:p>
            <a:r>
              <a:rPr sz="4800" dirty="0">
                <a:solidFill>
                  <a:srgbClr val="FF0000"/>
                </a:solidFill>
              </a:rPr>
              <a:t>A Geometric Approach to Factor-Based Market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A3530D-6279-0FA7-2CDB-2EFD0A4C95BC}"/>
              </a:ext>
            </a:extLst>
          </p:cNvPr>
          <p:cNvSpPr txBox="1"/>
          <p:nvPr/>
        </p:nvSpPr>
        <p:spPr>
          <a:xfrm>
            <a:off x="887728" y="5434148"/>
            <a:ext cx="27593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Rohan Kumar Mahato</a:t>
            </a:r>
            <a:br>
              <a:rPr lang="en-US" sz="2000" dirty="0"/>
            </a:br>
            <a:r>
              <a:rPr lang="en-US" sz="2000" dirty="0"/>
              <a:t>220101088</a:t>
            </a:r>
          </a:p>
          <a:p>
            <a:r>
              <a:rPr lang="en-US" sz="2000" dirty="0" err="1"/>
              <a:t>Btech</a:t>
            </a:r>
            <a:r>
              <a:rPr lang="en-US" sz="2000" dirty="0"/>
              <a:t>, CSE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2DC1A0-F93A-8E25-13AA-ED82747D9650}"/>
              </a:ext>
            </a:extLst>
          </p:cNvPr>
          <p:cNvSpPr txBox="1"/>
          <p:nvPr/>
        </p:nvSpPr>
        <p:spPr>
          <a:xfrm>
            <a:off x="8467904" y="5434148"/>
            <a:ext cx="3724096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Under Guidance of</a:t>
            </a:r>
          </a:p>
          <a:p>
            <a:r>
              <a:rPr lang="en-US" sz="2000" dirty="0"/>
              <a:t>	- Prof. Benny George K</a:t>
            </a:r>
          </a:p>
          <a:p>
            <a:r>
              <a:rPr lang="en-US" sz="2000" dirty="0"/>
              <a:t>	- Prof. Sriram </a:t>
            </a:r>
            <a:r>
              <a:rPr lang="en-US" sz="2000" dirty="0" err="1"/>
              <a:t>Bhyravarapu</a:t>
            </a:r>
            <a:endParaRPr lang="en-US" sz="2000" dirty="0"/>
          </a:p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0A46EA-53E9-3733-B9B3-FAB93E3803CB}"/>
              </a:ext>
            </a:extLst>
          </p:cNvPr>
          <p:cNvCxnSpPr/>
          <p:nvPr/>
        </p:nvCxnSpPr>
        <p:spPr>
          <a:xfrm>
            <a:off x="8709" y="5312229"/>
            <a:ext cx="1216152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020388"/>
            <a:ext cx="10058400" cy="4151811"/>
          </a:xfrm>
        </p:spPr>
        <p:txBody>
          <a:bodyPr>
            <a:normAutofit fontScale="25000" lnSpcReduction="20000"/>
          </a:bodyPr>
          <a:lstStyle/>
          <a:p>
            <a:r>
              <a:rPr sz="6400" dirty="0"/>
              <a:t>Introduction &amp; Motivation</a:t>
            </a:r>
          </a:p>
          <a:p>
            <a:r>
              <a:rPr sz="6400" dirty="0"/>
              <a:t>Contributions, Highlights &amp; Novelty</a:t>
            </a:r>
          </a:p>
          <a:p>
            <a:r>
              <a:rPr sz="6400" dirty="0"/>
              <a:t>Mathematical Foundations</a:t>
            </a:r>
          </a:p>
          <a:p>
            <a:r>
              <a:rPr sz="6400" dirty="0"/>
              <a:t>Data Collection &amp; Preprocessing</a:t>
            </a:r>
          </a:p>
          <a:p>
            <a:r>
              <a:rPr sz="6400" dirty="0"/>
              <a:t>Research Methodology</a:t>
            </a:r>
          </a:p>
          <a:p>
            <a:r>
              <a:rPr sz="6400" dirty="0"/>
              <a:t>Full-Sample Empirical Results</a:t>
            </a:r>
          </a:p>
          <a:p>
            <a:r>
              <a:rPr sz="6400" dirty="0"/>
              <a:t>Subperiod Analysis &amp; Temporal Evolution</a:t>
            </a:r>
          </a:p>
          <a:p>
            <a:r>
              <a:rPr lang="en-US" sz="6400" dirty="0"/>
              <a:t>Market </a:t>
            </a:r>
            <a:r>
              <a:rPr sz="6400" dirty="0"/>
              <a:t>Insights</a:t>
            </a:r>
          </a:p>
          <a:p>
            <a:r>
              <a:rPr sz="6400" dirty="0"/>
              <a:t>Scale, Extensibility &amp; Predictive Potential</a:t>
            </a:r>
          </a:p>
          <a:p>
            <a:r>
              <a:rPr sz="6400" dirty="0"/>
              <a:t>Why Data Till 2020? + Limitations</a:t>
            </a:r>
          </a:p>
          <a:p>
            <a:r>
              <a:rPr sz="6400" dirty="0"/>
              <a:t>Conclusion, Future Work &amp; Takeaways</a:t>
            </a:r>
          </a:p>
          <a:p>
            <a:r>
              <a:rPr sz="6400" dirty="0"/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Introduction</a:t>
            </a:r>
            <a:r>
              <a:rPr lang="en-US" sz="3600" dirty="0"/>
              <a:t>: The Indian equity Market landscape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892807"/>
            <a:ext cx="5696277" cy="4660175"/>
          </a:xfrm>
        </p:spPr>
        <p:txBody>
          <a:bodyPr>
            <a:normAutofit/>
          </a:bodyPr>
          <a:lstStyle/>
          <a:p>
            <a:r>
              <a:rPr lang="en-US" dirty="0"/>
              <a:t>One of the fastest-growing emerging equity markets</a:t>
            </a:r>
          </a:p>
          <a:p>
            <a:endParaRPr lang="en-US" dirty="0"/>
          </a:p>
          <a:p>
            <a:r>
              <a:rPr lang="en-US" dirty="0"/>
              <a:t>NSE has over 5,000 listed companies</a:t>
            </a:r>
          </a:p>
          <a:p>
            <a:endParaRPr lang="en-US" dirty="0"/>
          </a:p>
          <a:p>
            <a:r>
              <a:rPr lang="en-US" dirty="0"/>
              <a:t>NIFTY 500 covers approximately 93% of total market cap</a:t>
            </a:r>
          </a:p>
          <a:p>
            <a:endParaRPr lang="en-US" dirty="0"/>
          </a:p>
          <a:p>
            <a:r>
              <a:rPr lang="en-US" dirty="0"/>
              <a:t>Diverse sectoral representation: IT, Financials, Pharma, Industrials, etc.</a:t>
            </a:r>
          </a:p>
          <a:p>
            <a:endParaRPr lang="en-US" dirty="0"/>
          </a:p>
          <a:p>
            <a:r>
              <a:rPr lang="en-US" dirty="0"/>
              <a:t>Massive high-dimensional daily return data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2B16A3-BA59-C5E8-2626-06D4775A7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039" y="1892807"/>
            <a:ext cx="5512961" cy="41993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The Curse of Dimensionality in Financial Markets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121408"/>
            <a:ext cx="11122152" cy="1867118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For N ≈ 400 stocks: ~80,000 unique pairwise correlations</a:t>
            </a:r>
          </a:p>
          <a:p>
            <a:r>
              <a:rPr dirty="0"/>
              <a:t>Distance concentration in high dimensions</a:t>
            </a:r>
          </a:p>
          <a:p>
            <a:r>
              <a:rPr dirty="0"/>
              <a:t>Sample covariance matrices dominated by noise</a:t>
            </a:r>
          </a:p>
          <a:p>
            <a:r>
              <a:rPr dirty="0"/>
              <a:t>Traditional statistical models frequently fail or overfit</a:t>
            </a:r>
            <a:r>
              <a:rPr lang="en-US" dirty="0"/>
              <a:t>. Eg-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Mean-Variance Optimization Markowitz Model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Clustering Algorithms (e.g.-K-Means)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318291-1CDF-EBEB-BD92-937B09492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895" y="4257730"/>
            <a:ext cx="3009853" cy="22336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809F51-72F7-A440-F045-C299C4135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794" y="4159575"/>
            <a:ext cx="2769006" cy="23317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066F55-E0AA-FD23-F6B4-55A1EBA755FA}"/>
              </a:ext>
            </a:extLst>
          </p:cNvPr>
          <p:cNvSpPr txBox="1"/>
          <p:nvPr/>
        </p:nvSpPr>
        <p:spPr>
          <a:xfrm>
            <a:off x="2520056" y="6488407"/>
            <a:ext cx="22435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Surface area is at the equator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9F18BD-2BAE-15E4-A121-746E748CBAE8}"/>
              </a:ext>
            </a:extLst>
          </p:cNvPr>
          <p:cNvSpPr txBox="1"/>
          <p:nvPr/>
        </p:nvSpPr>
        <p:spPr>
          <a:xfrm>
            <a:off x="9194063" y="6665378"/>
            <a:ext cx="299793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Image ref. </a:t>
            </a:r>
            <a:r>
              <a:rPr lang="en-US" sz="700" i="1" dirty="0"/>
              <a:t>Foundations of Data Science</a:t>
            </a:r>
            <a:r>
              <a:rPr lang="en-US" sz="700" dirty="0"/>
              <a:t> (Blum, Hopcroft, and Kannan)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A1083F-D5F2-D785-FFF3-EC12BD40F515}"/>
              </a:ext>
            </a:extLst>
          </p:cNvPr>
          <p:cNvSpPr txBox="1"/>
          <p:nvPr/>
        </p:nvSpPr>
        <p:spPr>
          <a:xfrm>
            <a:off x="7484136" y="6488407"/>
            <a:ext cx="19223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Everyone is perpendicular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Geometric Perspective: Markets as High-Dimensional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trading day treated as a vector in R^N</a:t>
            </a:r>
          </a:p>
          <a:p>
            <a:r>
              <a:t>Market history forms a cloud of points in high-dimensional space</a:t>
            </a:r>
          </a:p>
          <a:p>
            <a:r>
              <a:t>Gaussian Annulus Theorem (Thin Shell Phenomenon)</a:t>
            </a:r>
          </a:p>
          <a:p>
            <a:r>
              <a:t>Real markets deviate significantly from pure randomness</a:t>
            </a:r>
          </a:p>
          <a:p>
            <a:r>
              <a:t>Indicates presence of hidden low-dimensional 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7737F4-FAD1-6BD4-CDB1-81F872BC9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208" y="4346666"/>
            <a:ext cx="4077282" cy="23574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90178B-E91F-C310-53AA-E9FE983A7C1A}"/>
              </a:ext>
            </a:extLst>
          </p:cNvPr>
          <p:cNvSpPr txBox="1"/>
          <p:nvPr/>
        </p:nvSpPr>
        <p:spPr>
          <a:xfrm>
            <a:off x="4789714" y="6604084"/>
            <a:ext cx="18389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Gaussian Annulus theorem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B9BD54-3858-7CE2-8557-8A7A47298BC6}"/>
              </a:ext>
            </a:extLst>
          </p:cNvPr>
          <p:cNvSpPr txBox="1"/>
          <p:nvPr/>
        </p:nvSpPr>
        <p:spPr>
          <a:xfrm>
            <a:off x="9194063" y="6665378"/>
            <a:ext cx="299793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Image ref. </a:t>
            </a:r>
            <a:r>
              <a:rPr lang="en-US" sz="700" i="1" dirty="0"/>
              <a:t>Foundations of Data Science</a:t>
            </a:r>
            <a:r>
              <a:rPr lang="en-US" sz="700" dirty="0"/>
              <a:t> (Blum, Hopcroft, and Kannan)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Motivation &amp; 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121408"/>
            <a:ext cx="5592209" cy="4050792"/>
          </a:xfrm>
        </p:spPr>
        <p:txBody>
          <a:bodyPr/>
          <a:lstStyle/>
          <a:p>
            <a:r>
              <a:rPr dirty="0"/>
              <a:t>Uncover the intrinsic dimensionality of the Indian equity market</a:t>
            </a:r>
          </a:p>
          <a:p>
            <a:r>
              <a:rPr dirty="0"/>
              <a:t>Build low-rank factor models separating signal from noise</a:t>
            </a:r>
          </a:p>
          <a:p>
            <a:r>
              <a:rPr dirty="0"/>
              <a:t>Analyze stability across frequencies and economic regimes</a:t>
            </a:r>
          </a:p>
          <a:p>
            <a:r>
              <a:rPr dirty="0"/>
              <a:t>Provide strong sectoral interpretability</a:t>
            </a:r>
          </a:p>
          <a:p>
            <a:r>
              <a:rPr dirty="0"/>
              <a:t>Derive practical insights for risk management and portfolio construction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1A4999-B518-C75A-742D-322D263A2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430" y="2093976"/>
            <a:ext cx="5592209" cy="37095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4D5FB7-DF6B-183A-7262-6FF7A7DB80BB}"/>
              </a:ext>
            </a:extLst>
          </p:cNvPr>
          <p:cNvSpPr txBox="1"/>
          <p:nvPr/>
        </p:nvSpPr>
        <p:spPr>
          <a:xfrm>
            <a:off x="8312463" y="1915586"/>
            <a:ext cx="18261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General RMT Visualization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Main Contributions &amp;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9471" y="1815738"/>
            <a:ext cx="11522529" cy="487897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</a:t>
            </a:r>
            <a:r>
              <a:rPr dirty="0"/>
              <a:t>eometric and Random Matrix Theory foundation</a:t>
            </a:r>
            <a:endParaRPr lang="en-US" dirty="0"/>
          </a:p>
          <a:p>
            <a:pPr lvl="1"/>
            <a:r>
              <a:rPr lang="en-US" dirty="0"/>
              <a:t>Use of Principal Component Analysis (PCA) with </a:t>
            </a:r>
            <a:r>
              <a:rPr lang="en-US" b="1" dirty="0">
                <a:solidFill>
                  <a:srgbClr val="FF0000"/>
                </a:solidFill>
              </a:rPr>
              <a:t>Random Matrix Theory (RMT)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the </a:t>
            </a:r>
            <a:r>
              <a:rPr lang="en-US" b="1" dirty="0">
                <a:solidFill>
                  <a:srgbClr val="FF0000"/>
                </a:solidFill>
              </a:rPr>
              <a:t>Johnson-</a:t>
            </a:r>
            <a:r>
              <a:rPr lang="en-US" b="1" dirty="0" err="1">
                <a:solidFill>
                  <a:srgbClr val="FF0000"/>
                </a:solidFill>
              </a:rPr>
              <a:t>Lindenstrauss</a:t>
            </a:r>
            <a:r>
              <a:rPr lang="en-US" b="1" dirty="0">
                <a:solidFill>
                  <a:srgbClr val="FF0000"/>
                </a:solidFill>
              </a:rPr>
              <a:t> Lemma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to provide mathematical guarantees that market structure is preserved during dimensionality reduction.</a:t>
            </a:r>
            <a:br>
              <a:rPr lang="en-US" dirty="0"/>
            </a:br>
            <a:endParaRPr dirty="0"/>
          </a:p>
          <a:p>
            <a:r>
              <a:rPr dirty="0"/>
              <a:t>Fixed NIFTY 500 universe (378 stocks) </a:t>
            </a:r>
            <a:r>
              <a:rPr lang="en-US" dirty="0"/>
              <a:t>- </a:t>
            </a:r>
            <a:r>
              <a:rPr dirty="0"/>
              <a:t>eliminates survivorship bias</a:t>
            </a:r>
            <a:br>
              <a:rPr lang="en-US" dirty="0"/>
            </a:br>
            <a:endParaRPr dirty="0"/>
          </a:p>
          <a:p>
            <a:r>
              <a:rPr dirty="0"/>
              <a:t>Multi-frequency analysis: daily, weekly, and monthly returns</a:t>
            </a:r>
            <a:br>
              <a:rPr lang="en-US" dirty="0"/>
            </a:br>
            <a:endParaRPr dirty="0"/>
          </a:p>
          <a:p>
            <a:r>
              <a:rPr dirty="0"/>
              <a:t>Temporal regime analysis across three economic subperiods</a:t>
            </a:r>
            <a:br>
              <a:rPr lang="en-US" dirty="0"/>
            </a:br>
            <a:endParaRPr dirty="0"/>
          </a:p>
          <a:p>
            <a:r>
              <a:rPr dirty="0"/>
              <a:t>Sectoral dominance analysis using loading heatmaps</a:t>
            </a:r>
            <a:br>
              <a:rPr lang="en-US" dirty="0"/>
            </a:br>
            <a:endParaRPr dirty="0"/>
          </a:p>
          <a:p>
            <a:r>
              <a:rPr dirty="0"/>
              <a:t>Demonstrates low intrinsic dimensionality with economic</a:t>
            </a:r>
            <a:br>
              <a:rPr lang="en-US" dirty="0"/>
            </a:br>
            <a:r>
              <a:rPr dirty="0"/>
              <a:t>meaning</a:t>
            </a:r>
            <a:r>
              <a:rPr lang="en-US" dirty="0"/>
              <a:t> (Monthly data requires nearly 3x fewer </a:t>
            </a:r>
            <a:br>
              <a:rPr lang="en-US" dirty="0"/>
            </a:br>
            <a:r>
              <a:rPr lang="en-US" dirty="0"/>
              <a:t>components)</a:t>
            </a:r>
            <a:br>
              <a:rPr lang="en-US" dirty="0"/>
            </a:br>
            <a:endParaRPr lang="en-US" dirty="0"/>
          </a:p>
          <a:p>
            <a:r>
              <a:rPr lang="en-US" dirty="0"/>
              <a:t>Proved that market dimensionality is not constant, it collapses during systemic </a:t>
            </a:r>
            <a:br>
              <a:rPr lang="en-US" dirty="0"/>
            </a:br>
            <a:r>
              <a:rPr lang="en-US" dirty="0"/>
              <a:t>shocks (2008, 2020) and expands during stable growth (2010–2015)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99FED3-24C5-5844-0514-C08FCB945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186" y="3335180"/>
            <a:ext cx="4055768" cy="28647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729185-CAE7-CBE7-DAE2-6E5706860A81}"/>
              </a:ext>
            </a:extLst>
          </p:cNvPr>
          <p:cNvSpPr txBox="1"/>
          <p:nvPr/>
        </p:nvSpPr>
        <p:spPr>
          <a:xfrm>
            <a:off x="9349060" y="3152946"/>
            <a:ext cx="133402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/>
              <a:t>RMT </a:t>
            </a:r>
            <a:r>
              <a:rPr lang="en-US" sz="600" dirty="0" err="1"/>
              <a:t>comparision</a:t>
            </a:r>
            <a:r>
              <a:rPr lang="en-US" sz="600" dirty="0"/>
              <a:t> on our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B01DB6-56C8-6BF8-8AC1-03ACDD946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402" y="67491"/>
            <a:ext cx="4241552" cy="16093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720D35-A9B8-6E46-5EDA-8E997FC4B7D4}"/>
              </a:ext>
            </a:extLst>
          </p:cNvPr>
          <p:cNvSpPr txBox="1"/>
          <p:nvPr/>
        </p:nvSpPr>
        <p:spPr>
          <a:xfrm>
            <a:off x="8985980" y="1561822"/>
            <a:ext cx="20601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Johnson-</a:t>
            </a:r>
            <a:r>
              <a:rPr lang="en-US" sz="1050" dirty="0" err="1"/>
              <a:t>Lindenstrauss</a:t>
            </a:r>
            <a:r>
              <a:rPr lang="en-US" sz="1050" dirty="0"/>
              <a:t> Lemma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2938" y="686838"/>
            <a:ext cx="5886123" cy="1017597"/>
          </a:xfrm>
        </p:spPr>
        <p:txBody>
          <a:bodyPr>
            <a:normAutofit/>
          </a:bodyPr>
          <a:lstStyle/>
          <a:p>
            <a:r>
              <a:rPr sz="3600" dirty="0"/>
              <a:t>Relation to Existing Literature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E37DB2-7B12-F325-38B7-6270116D7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864732"/>
              </p:ext>
            </p:extLst>
          </p:nvPr>
        </p:nvGraphicFramePr>
        <p:xfrm>
          <a:off x="391887" y="1646765"/>
          <a:ext cx="11511641" cy="5080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3624">
                  <a:extLst>
                    <a:ext uri="{9D8B030D-6E8A-4147-A177-3AD203B41FA5}">
                      <a16:colId xmlns:a16="http://schemas.microsoft.com/office/drawing/2014/main" val="571357122"/>
                    </a:ext>
                  </a:extLst>
                </a:gridCol>
                <a:gridCol w="4702599">
                  <a:extLst>
                    <a:ext uri="{9D8B030D-6E8A-4147-A177-3AD203B41FA5}">
                      <a16:colId xmlns:a16="http://schemas.microsoft.com/office/drawing/2014/main" val="1108242253"/>
                    </a:ext>
                  </a:extLst>
                </a:gridCol>
                <a:gridCol w="4445418">
                  <a:extLst>
                    <a:ext uri="{9D8B030D-6E8A-4147-A177-3AD203B41FA5}">
                      <a16:colId xmlns:a16="http://schemas.microsoft.com/office/drawing/2014/main" val="1289510100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Existing Literature ( </a:t>
                      </a:r>
                      <a:r>
                        <a:rPr lang="en-US" dirty="0" err="1"/>
                        <a:t>Laloux</a:t>
                      </a:r>
                      <a:r>
                        <a:rPr lang="en-US" dirty="0"/>
                        <a:t> 1999, Kumar 2020 )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Our Study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357490"/>
                  </a:ext>
                </a:extLst>
              </a:tr>
              <a:tr h="1074572">
                <a:tc>
                  <a:txBody>
                    <a:bodyPr/>
                    <a:lstStyle/>
                    <a:p>
                      <a:r>
                        <a:rPr lang="en-US" dirty="0"/>
                        <a:t>Data Universe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Often relies on dynamic index constituents, introducing index-shuffling bias.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Fixed Universe: Tracks a static set of 378 stocks over 15 years to eliminate survivorship bias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34361"/>
                  </a:ext>
                </a:extLst>
              </a:tr>
              <a:tr h="1074572">
                <a:tc>
                  <a:txBody>
                    <a:bodyPr/>
                    <a:lstStyle/>
                    <a:p>
                      <a:r>
                        <a:rPr lang="en-US" dirty="0"/>
                        <a:t>Temporal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Frequently provides a "static" snapshot of market structure.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Temporal Evolution: Isolates shifts across three 5-year economic regimes (2005–2020).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0072397"/>
                  </a:ext>
                </a:extLst>
              </a:tr>
              <a:tr h="1074572">
                <a:tc>
                  <a:txBody>
                    <a:bodyPr/>
                    <a:lstStyle/>
                    <a:p>
                      <a:r>
                        <a:rPr lang="en-US" dirty="0"/>
                        <a:t>Return Horizon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Predominantly analyzes daily returns, which are dominated by microstructure noise.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Multi-Frequency: Compares Daily, Weekly, and Monthly horizons to uncover the "economic backbone"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067196"/>
                  </a:ext>
                </a:extLst>
              </a:tr>
              <a:tr h="1074572">
                <a:tc>
                  <a:txBody>
                    <a:bodyPr/>
                    <a:lstStyle/>
                    <a:p>
                      <a:r>
                        <a:rPr lang="en-US" dirty="0"/>
                        <a:t>Sectoral Insight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Identifies broad signal vs. noise without specific thematic evolution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Thematic Discovery: Quantifies shifting dominance, such as the 2020 Healthcare "Super-Factor".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305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EF0B8CC-F6A7-A850-359C-9B18E65C9BF2}"/>
              </a:ext>
            </a:extLst>
          </p:cNvPr>
          <p:cNvSpPr txBox="1"/>
          <p:nvPr/>
        </p:nvSpPr>
        <p:spPr>
          <a:xfrm>
            <a:off x="391887" y="0"/>
            <a:ext cx="52629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https://www.sciencedirect.com/science/article/pii/S0378437120305872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9F452A-5D47-E35A-8908-C86A72A42E55}"/>
              </a:ext>
            </a:extLst>
          </p:cNvPr>
          <p:cNvSpPr txBox="1"/>
          <p:nvPr/>
        </p:nvSpPr>
        <p:spPr>
          <a:xfrm>
            <a:off x="391886" y="299497"/>
            <a:ext cx="78061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https://journals.aps.org/prl/abstract/10.1103/PhysRevLett.83.1467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Why Our Work is Reliable</a:t>
            </a:r>
            <a:r>
              <a:rPr lang="en-US" sz="3600" dirty="0"/>
              <a:t> ?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752" y="1925466"/>
            <a:ext cx="10058400" cy="2642617"/>
          </a:xfrm>
        </p:spPr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Random Matrix Theory (Marchenko-</a:t>
            </a:r>
            <a:r>
              <a:rPr dirty="0" err="1">
                <a:solidFill>
                  <a:srgbClr val="FF0000"/>
                </a:solidFill>
              </a:rPr>
              <a:t>Pastur</a:t>
            </a:r>
            <a:r>
              <a:rPr dirty="0">
                <a:solidFill>
                  <a:srgbClr val="FF0000"/>
                </a:solidFill>
              </a:rPr>
              <a:t> law) for signal-noise separation</a:t>
            </a:r>
          </a:p>
          <a:p>
            <a:r>
              <a:rPr dirty="0"/>
              <a:t>Johnson-</a:t>
            </a:r>
            <a:r>
              <a:rPr dirty="0" err="1"/>
              <a:t>Lindenstrauss</a:t>
            </a:r>
            <a:r>
              <a:rPr dirty="0"/>
              <a:t> Lemma provides theoretical guarantees</a:t>
            </a:r>
          </a:p>
          <a:p>
            <a:r>
              <a:rPr dirty="0"/>
              <a:t>Results consistent across frequencies and subperiods</a:t>
            </a:r>
          </a:p>
          <a:p>
            <a:r>
              <a:rPr dirty="0"/>
              <a:t>Fixed universe + standardization reduces bias</a:t>
            </a:r>
          </a:p>
          <a:p>
            <a:r>
              <a:rPr dirty="0"/>
              <a:t>Fully transparent and reproducible pipeline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154E77-11ED-4F22-D21E-2411F66C2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29" y="4310171"/>
            <a:ext cx="3843442" cy="19055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28B46A-9724-9EC1-B5B6-0DC81D500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4279" y="4334038"/>
            <a:ext cx="3795304" cy="18817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41630E-9671-4913-0328-72226DF70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30" y="4334038"/>
            <a:ext cx="3795303" cy="18817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EE30D9-43C8-A9CB-52B3-CDF10D214790}"/>
              </a:ext>
            </a:extLst>
          </p:cNvPr>
          <p:cNvSpPr txBox="1"/>
          <p:nvPr/>
        </p:nvSpPr>
        <p:spPr>
          <a:xfrm>
            <a:off x="1413703" y="5078291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2005-2010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8402F8-1F3A-75F8-9862-7BFC1D719372}"/>
              </a:ext>
            </a:extLst>
          </p:cNvPr>
          <p:cNvSpPr txBox="1"/>
          <p:nvPr/>
        </p:nvSpPr>
        <p:spPr>
          <a:xfrm>
            <a:off x="5438584" y="5046025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2010-2015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E7008D-47AA-B969-3093-3863838A2480}"/>
              </a:ext>
            </a:extLst>
          </p:cNvPr>
          <p:cNvSpPr txBox="1"/>
          <p:nvPr/>
        </p:nvSpPr>
        <p:spPr>
          <a:xfrm>
            <a:off x="9487534" y="5078291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2015-2020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Connection to Random Matrix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752" y="1925465"/>
            <a:ext cx="10058400" cy="2107692"/>
          </a:xfrm>
        </p:spPr>
        <p:txBody>
          <a:bodyPr/>
          <a:lstStyle/>
          <a:p>
            <a:r>
              <a:rPr dirty="0"/>
              <a:t>RMT distinguishes signal (large eigenvalues) from noise</a:t>
            </a:r>
          </a:p>
          <a:p>
            <a:r>
              <a:rPr dirty="0">
                <a:solidFill>
                  <a:srgbClr val="FF0000"/>
                </a:solidFill>
              </a:rPr>
              <a:t>PC1: Strong Market Factor</a:t>
            </a:r>
          </a:p>
          <a:p>
            <a:r>
              <a:rPr dirty="0"/>
              <a:t>PC2–PC5: Sectoral and thematic rotation factors</a:t>
            </a:r>
          </a:p>
          <a:p>
            <a:r>
              <a:rPr dirty="0"/>
              <a:t>PCA preferred due to variance maximization, orthogonality, and interpretability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4" name="Picture 3" descr="A simple visualization of Principal Component Analysis (PCA). To describe the position of any one data point in this dataset, one could specify three coordinates -it's x, y, and z location along the depicted axes. However, one could also provide a good (albeit imperfect) estimate of a point's location by simply providing a single coordinate -it's coordinate along a single vector that describes as much of the variation in the data as possible -the so-called &quot;first principal component&quot; (depicted in blue here). If we also specified that point's location along an additional vector defined to be both: (a) orthogonal to the first principal component, and (b) pointing along the (orthogonal) direction describing the next greatest amount of variance in the data, this &quot;second principal component&quot; (depicted here in yellow), together with the first, would provide an even better estimate of the point's location with only two coordinates. In high-contrast imaging, these patterns of covariance among images (principal components) can be used to model an image's Point Spread Function (PSF) using Karhunen-Loeve Image Processing (KLIP), which is a variant of Principal Component Analysis.">
            <a:extLst>
              <a:ext uri="{FF2B5EF4-FFF2-40B4-BE49-F238E27FC236}">
                <a16:creationId xmlns:a16="http://schemas.microsoft.com/office/drawing/2014/main" id="{EE323F20-2823-1F27-3BC0-3566A9668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405" y="3776961"/>
            <a:ext cx="3451905" cy="3081039"/>
          </a:xfrm>
          <a:prstGeom prst="rect">
            <a:avLst/>
          </a:prstGeom>
        </p:spPr>
      </p:pic>
      <p:pic>
        <p:nvPicPr>
          <p:cNvPr id="5" name="Picture 4" descr="Elementary Results in Random Matrix Theory | by Ollie Watkinson | Cantor's  Paradise">
            <a:extLst>
              <a:ext uri="{FF2B5EF4-FFF2-40B4-BE49-F238E27FC236}">
                <a16:creationId xmlns:a16="http://schemas.microsoft.com/office/drawing/2014/main" id="{D68A9A03-12C6-E42E-E72E-5B93B1E74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228" y="4275473"/>
            <a:ext cx="3347143" cy="23402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376B48-C0B0-9FD8-8212-052C92968F40}"/>
              </a:ext>
            </a:extLst>
          </p:cNvPr>
          <p:cNvSpPr txBox="1"/>
          <p:nvPr/>
        </p:nvSpPr>
        <p:spPr>
          <a:xfrm>
            <a:off x="-33743" y="6427113"/>
            <a:ext cx="9797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Image-1 ref.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A15D70-D142-14DF-4826-A5FC8D184654}"/>
              </a:ext>
            </a:extLst>
          </p:cNvPr>
          <p:cNvSpPr txBox="1"/>
          <p:nvPr/>
        </p:nvSpPr>
        <p:spPr>
          <a:xfrm>
            <a:off x="-33742" y="6596390"/>
            <a:ext cx="9797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Image-2 ref.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Data Collection – Fixed NIFTY 500 Universe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Based on NIFTY 500 </a:t>
            </a:r>
            <a:r>
              <a:rPr dirty="0">
                <a:solidFill>
                  <a:srgbClr val="FF0000"/>
                </a:solidFill>
              </a:rPr>
              <a:t>membership as of end of 2004</a:t>
            </a:r>
          </a:p>
          <a:p>
            <a:r>
              <a:rPr dirty="0"/>
              <a:t>Final cleaned universe: 378 stocks</a:t>
            </a:r>
          </a:p>
          <a:p>
            <a:r>
              <a:rPr dirty="0"/>
              <a:t>Eliminates survivorship bias for reliable long-term analysis</a:t>
            </a:r>
          </a:p>
          <a:p>
            <a:r>
              <a:rPr lang="en-US" dirty="0"/>
              <a:t>Data collected </a:t>
            </a:r>
            <a:r>
              <a:rPr dirty="0"/>
              <a:t>using NSE </a:t>
            </a:r>
            <a:r>
              <a:rPr lang="en-US" dirty="0"/>
              <a:t>&amp;</a:t>
            </a:r>
            <a:r>
              <a:rPr dirty="0"/>
              <a:t> Yahoo Finance</a:t>
            </a:r>
          </a:p>
        </p:txBody>
      </p:sp>
      <p:pic>
        <p:nvPicPr>
          <p:cNvPr id="4" name="Picture 3" descr="Watch Yahoo Finance for Free | DIRECTV Insider">
            <a:extLst>
              <a:ext uri="{FF2B5EF4-FFF2-40B4-BE49-F238E27FC236}">
                <a16:creationId xmlns:a16="http://schemas.microsoft.com/office/drawing/2014/main" id="{47244DDC-1A4C-A526-478B-6F677D2F0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324" y="4048151"/>
            <a:ext cx="3178629" cy="1787979"/>
          </a:xfrm>
          <a:prstGeom prst="rect">
            <a:avLst/>
          </a:prstGeom>
        </p:spPr>
      </p:pic>
      <p:pic>
        <p:nvPicPr>
          <p:cNvPr id="5" name="Picture 4" descr="NSE - 11th India Investment Conference11th India Investment Conference">
            <a:extLst>
              <a:ext uri="{FF2B5EF4-FFF2-40B4-BE49-F238E27FC236}">
                <a16:creationId xmlns:a16="http://schemas.microsoft.com/office/drawing/2014/main" id="{918FEBBA-1BB1-3C1A-9C66-8D6E40E08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048" y="4245455"/>
            <a:ext cx="2876550" cy="15906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Preprocessing &amp; Dataset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Historical adjusted close prices from </a:t>
            </a:r>
            <a:r>
              <a:rPr dirty="0" err="1"/>
              <a:t>yfinance</a:t>
            </a:r>
            <a:r>
              <a:rPr dirty="0"/>
              <a:t> (2005–2020)</a:t>
            </a:r>
          </a:p>
          <a:p>
            <a:r>
              <a:rPr dirty="0"/>
              <a:t>Missing value imputation using </a:t>
            </a:r>
            <a:r>
              <a:rPr dirty="0">
                <a:solidFill>
                  <a:srgbClr val="FF0000"/>
                </a:solidFill>
              </a:rPr>
              <a:t>forward-fill</a:t>
            </a:r>
            <a:r>
              <a:rPr dirty="0"/>
              <a:t> + </a:t>
            </a:r>
            <a:r>
              <a:rPr dirty="0">
                <a:solidFill>
                  <a:srgbClr val="FF0000"/>
                </a:solidFill>
              </a:rPr>
              <a:t>backward-fill</a:t>
            </a:r>
          </a:p>
          <a:p>
            <a:r>
              <a:rPr dirty="0"/>
              <a:t>Return calculation at three frequencies: daily, weekly, monthly</a:t>
            </a:r>
          </a:p>
          <a:p>
            <a:r>
              <a:rPr dirty="0">
                <a:solidFill>
                  <a:srgbClr val="FF0000"/>
                </a:solidFill>
              </a:rPr>
              <a:t>Standardization applied to each stock individually</a:t>
            </a:r>
          </a:p>
          <a:p>
            <a:r>
              <a:rPr dirty="0"/>
              <a:t>Final dataset: ~3,720 trading days × 378 stocks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C49A28-B88D-A2AF-E06C-97ED4C361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5863" y="0"/>
            <a:ext cx="2699314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5AD6071-17C8-672A-C28B-6385A0E7848C}"/>
              </a:ext>
            </a:extLst>
          </p:cNvPr>
          <p:cNvSpPr/>
          <p:nvPr/>
        </p:nvSpPr>
        <p:spPr>
          <a:xfrm>
            <a:off x="8412480" y="0"/>
            <a:ext cx="1550126" cy="685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3951" y="318733"/>
            <a:ext cx="5984095" cy="756339"/>
          </a:xfrm>
        </p:spPr>
        <p:txBody>
          <a:bodyPr>
            <a:normAutofit/>
          </a:bodyPr>
          <a:lstStyle/>
          <a:p>
            <a:r>
              <a:rPr sz="3600" dirty="0"/>
              <a:t>Research Methodology Overview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3550D5-B7CC-7017-510E-DEA8BCD0A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639" y="1014111"/>
            <a:ext cx="8290722" cy="57413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E82F3F1-09AD-0E02-ACE3-CE1D886CA79E}"/>
              </a:ext>
            </a:extLst>
          </p:cNvPr>
          <p:cNvSpPr txBox="1">
            <a:spLocks/>
          </p:cNvSpPr>
          <p:nvPr/>
        </p:nvSpPr>
        <p:spPr>
          <a:xfrm>
            <a:off x="732173" y="293478"/>
            <a:ext cx="6426273" cy="64633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Full-sample Vs. Subperiod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1CA279-30EC-2FDF-2E21-3A5B3CAE082F}"/>
              </a:ext>
            </a:extLst>
          </p:cNvPr>
          <p:cNvSpPr txBox="1"/>
          <p:nvPr/>
        </p:nvSpPr>
        <p:spPr>
          <a:xfrm>
            <a:off x="732173" y="1045028"/>
            <a:ext cx="10432868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Full Sample (2005–2020): </a:t>
            </a:r>
            <a:r>
              <a:rPr lang="en-US" sz="1600" dirty="0"/>
              <a:t>Provides the long-term “geometric backbone” of the market, capturing stable patterns that persist beyond short-term fluctuations. 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Global Eigenvectors: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600" dirty="0"/>
              <a:t>Represent the main underlying drivers of the market over time (e.g., GDP growth, interest rates) </a:t>
            </a:r>
            <a:r>
              <a:rPr lang="en-US" sz="1600" dirty="0" err="1"/>
              <a:t>i.e</a:t>
            </a:r>
            <a:r>
              <a:rPr lang="en-US" sz="1600" dirty="0"/>
              <a:t> the key forces shaping overall movement. 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Subperiod Analysis (5-year blocks):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600" dirty="0"/>
              <a:t>Shows how market structure evolves, collapsing into unified, panic-driven behavior during crises and expanding into diverse sector trends during growth. 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Fixed Universe (378 stocks):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600" dirty="0"/>
              <a:t>Ensures consistency, observed changes reflect real economic shifts, not changes in the stock sample.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20C73C-15E8-DFF5-43DB-5F42B067D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14" y="4354287"/>
            <a:ext cx="2970850" cy="14741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5A1845-864A-0E66-C5CE-18DC14A071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2209" y="4354286"/>
            <a:ext cx="2970852" cy="14741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6E6C3C-1098-A860-6650-8B5AEEE241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4709" y="4354286"/>
            <a:ext cx="2970850" cy="14741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20A284-5A7C-8A85-5C50-260A2BE825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1524" y="4354285"/>
            <a:ext cx="2970850" cy="147418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C400D1B-1607-8FFE-F302-4DE48D46C600}"/>
              </a:ext>
            </a:extLst>
          </p:cNvPr>
          <p:cNvSpPr txBox="1"/>
          <p:nvPr/>
        </p:nvSpPr>
        <p:spPr>
          <a:xfrm>
            <a:off x="6956787" y="5866005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2010-2015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12B6CD-F1DE-B60E-57FC-426422BD3268}"/>
              </a:ext>
            </a:extLst>
          </p:cNvPr>
          <p:cNvSpPr txBox="1"/>
          <p:nvPr/>
        </p:nvSpPr>
        <p:spPr>
          <a:xfrm>
            <a:off x="3894288" y="5867656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2005-2010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322FFF-222B-8DED-7D6B-1F9BFBA90D3C}"/>
              </a:ext>
            </a:extLst>
          </p:cNvPr>
          <p:cNvSpPr txBox="1"/>
          <p:nvPr/>
        </p:nvSpPr>
        <p:spPr>
          <a:xfrm>
            <a:off x="879892" y="5867656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2005-2020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5278FA-4ED0-81CC-0079-2C64F71D4244}"/>
              </a:ext>
            </a:extLst>
          </p:cNvPr>
          <p:cNvSpPr txBox="1"/>
          <p:nvPr/>
        </p:nvSpPr>
        <p:spPr>
          <a:xfrm>
            <a:off x="10033602" y="5865221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2015-2020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47D30AD-916E-526A-16C7-E31C21E6FFFC}"/>
              </a:ext>
            </a:extLst>
          </p:cNvPr>
          <p:cNvCxnSpPr>
            <a:cxnSpLocks/>
          </p:cNvCxnSpPr>
          <p:nvPr/>
        </p:nvCxnSpPr>
        <p:spPr>
          <a:xfrm flipH="1">
            <a:off x="4552950" y="4912783"/>
            <a:ext cx="260350" cy="215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46B206B-0457-7816-5F8A-45637E700592}"/>
              </a:ext>
            </a:extLst>
          </p:cNvPr>
          <p:cNvSpPr txBox="1"/>
          <p:nvPr/>
        </p:nvSpPr>
        <p:spPr>
          <a:xfrm>
            <a:off x="4745566" y="4765873"/>
            <a:ext cx="4988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WHY 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2F2E918-7B8C-7D72-8886-8AFC7F38CDB3}"/>
              </a:ext>
            </a:extLst>
          </p:cNvPr>
          <p:cNvSpPr txBox="1">
            <a:spLocks/>
          </p:cNvSpPr>
          <p:nvPr/>
        </p:nvSpPr>
        <p:spPr>
          <a:xfrm>
            <a:off x="732173" y="293478"/>
            <a:ext cx="9378478" cy="64633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Full-sample Results: Intrinsic Dimensionality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0521B1-A340-1BD6-3DF1-ABD2233E4277}"/>
              </a:ext>
            </a:extLst>
          </p:cNvPr>
          <p:cNvSpPr txBox="1"/>
          <p:nvPr/>
        </p:nvSpPr>
        <p:spPr>
          <a:xfrm>
            <a:off x="732173" y="939809"/>
            <a:ext cx="6513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How Many Forces Actually Drive 378 Stocks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F8FA10-3BD5-346A-AB0A-88376220F472}"/>
              </a:ext>
            </a:extLst>
          </p:cNvPr>
          <p:cNvSpPr txBox="1"/>
          <p:nvPr/>
        </p:nvSpPr>
        <p:spPr>
          <a:xfrm>
            <a:off x="732173" y="1482115"/>
            <a:ext cx="110594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The “Magic Number”:</a:t>
            </a:r>
            <a:r>
              <a:rPr lang="en-US" dirty="0"/>
              <a:t> Even with 378 stocks, market behavior is driven by only ~50-60 core components, indicating strong underlying structure. 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Signal vs. Noise:</a:t>
            </a:r>
            <a:r>
              <a:rPr lang="en-US" dirty="0"/>
              <a:t> The majority of daily price changes are random noise, while only the top components capture meaningful economic signals relevant for investors.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Horizon Effect:</a:t>
            </a:r>
            <a:r>
              <a:rPr lang="en-US" dirty="0"/>
              <a:t> Monthly data produces a clearer, more stable structure, whereas daily data is noisier due to short-term effects like panic trading and liquidity shocks.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EA38F3-FF99-2BE1-B153-912BF6C88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042" y="3790439"/>
            <a:ext cx="6181916" cy="306756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0F143-027A-738F-B977-BC22BF96D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2CF8CC-8B02-0800-4A36-70E73A9F13E6}"/>
              </a:ext>
            </a:extLst>
          </p:cNvPr>
          <p:cNvSpPr txBox="1">
            <a:spLocks/>
          </p:cNvSpPr>
          <p:nvPr/>
        </p:nvSpPr>
        <p:spPr>
          <a:xfrm>
            <a:off x="732173" y="293478"/>
            <a:ext cx="9378478" cy="64633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What do the components (pc1, pc2, pc3) represent?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B2D949-7BF0-7EDA-5B6A-3501F26118E2}"/>
              </a:ext>
            </a:extLst>
          </p:cNvPr>
          <p:cNvSpPr txBox="1"/>
          <p:nvPr/>
        </p:nvSpPr>
        <p:spPr>
          <a:xfrm>
            <a:off x="732173" y="939809"/>
            <a:ext cx="766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The Hidden Drivers of the Full Sample ( 2005 – 2020 )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533105-F69E-7FBA-412E-714D1F0F6BD9}"/>
              </a:ext>
            </a:extLst>
          </p:cNvPr>
          <p:cNvSpPr txBox="1"/>
          <p:nvPr/>
        </p:nvSpPr>
        <p:spPr>
          <a:xfrm>
            <a:off x="732173" y="1482115"/>
            <a:ext cx="110594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PC1 (Market Factor): </a:t>
            </a:r>
            <a:r>
              <a:rPr lang="en-US" dirty="0"/>
              <a:t>A broad, universal factor with positive loadings across most stocks. It captures systemic risk and overall market direction, influenced by GDP growth, rupee movements, and global risk sentiment.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PC2 (Sectoral Rotations): </a:t>
            </a:r>
            <a:r>
              <a:rPr lang="en-US" dirty="0"/>
              <a:t>Reflects the rotation between sectors, showing a contrast between cyclical sectors (Financials, Energy, Industrials) and defensive/growth sectors (IT, Pharmaceuticals)</a:t>
            </a:r>
            <a:br>
              <a:rPr lang="en-US" dirty="0"/>
            </a:b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PC3 (Thematic Clusters): </a:t>
            </a:r>
            <a:r>
              <a:rPr lang="en-US" dirty="0"/>
              <a:t>Captures localized, sector-specific movements independent of the overall market, highlighting industry-level shocks or trends (e.g., Technology or Banking booms).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7B0B54-B9A6-62F8-896E-5EA7F29A3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92184"/>
            <a:ext cx="3466102" cy="25658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41A9BE-0CA5-4379-DA8C-FE9A189F0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21" y="4272677"/>
            <a:ext cx="4289211" cy="25853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7861DC-78F3-B43D-E0C5-DF8A80859F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4783" y="4272677"/>
            <a:ext cx="4256848" cy="256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37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F5EB7-9429-0C33-C731-85D2970F2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1E632C0-2557-399E-FF6A-E3EA316BCD3F}"/>
              </a:ext>
            </a:extLst>
          </p:cNvPr>
          <p:cNvSpPr txBox="1">
            <a:spLocks/>
          </p:cNvSpPr>
          <p:nvPr/>
        </p:nvSpPr>
        <p:spPr>
          <a:xfrm>
            <a:off x="732173" y="293478"/>
            <a:ext cx="9378478" cy="64633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subperiod analysis: Market evolution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FADE1F-E4F0-DFE5-A765-AEE41B990F2B}"/>
              </a:ext>
            </a:extLst>
          </p:cNvPr>
          <p:cNvSpPr txBox="1"/>
          <p:nvPr/>
        </p:nvSpPr>
        <p:spPr>
          <a:xfrm>
            <a:off x="732173" y="939809"/>
            <a:ext cx="54389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Three Regimes of the Indian Market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B1C6AB-F034-7672-D788-2D1219BA374F}"/>
              </a:ext>
            </a:extLst>
          </p:cNvPr>
          <p:cNvSpPr txBox="1"/>
          <p:nvPr/>
        </p:nvSpPr>
        <p:spPr>
          <a:xfrm>
            <a:off x="732173" y="1482115"/>
            <a:ext cx="1105949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Period 1: 2005–2010 (Crisis Driven): </a:t>
            </a:r>
            <a:r>
              <a:rPr lang="en-US" dirty="0"/>
              <a:t>Market dimensionality was at its lowest. During the 2008 GFC, stock differences vanished as PC1 became exceptionally dominant, reaching an eigenvalue of λ≈190 in monthly returns.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Period 2: 2010–2015 (Stabilization): </a:t>
            </a:r>
            <a:r>
              <a:rPr lang="en-US" dirty="0"/>
              <a:t>This era saw the highest diversification. PC1 dominance dropped significantly (monthly eigenvalue fell to ≈65), allowing individual sector stories and domestic policy shifts to drive market variance.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Period 3: 2015–2020 (Reform &amp; COVID): </a:t>
            </a:r>
            <a:r>
              <a:rPr lang="en-US" dirty="0"/>
              <a:t>Market structure became highly "thematic". While the COVID shock caused a resurgence in PC1 (systemic panic), it also birthed clear "winner" factors in the Healthcare and IT sectors.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28B661-1172-7BDC-69A6-66F35BC98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29" y="4621436"/>
            <a:ext cx="3843442" cy="20732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3BC1D3-AF87-D464-590C-C17493AAA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279" y="4702078"/>
            <a:ext cx="3795304" cy="19926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E5C3DF-4DDE-BA60-18C3-159F80CDA6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3230" y="4702078"/>
            <a:ext cx="3795303" cy="19926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832C5FE-7393-CFBF-BCB6-049774C41611}"/>
              </a:ext>
            </a:extLst>
          </p:cNvPr>
          <p:cNvSpPr txBox="1"/>
          <p:nvPr/>
        </p:nvSpPr>
        <p:spPr>
          <a:xfrm>
            <a:off x="1413703" y="5557263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2005-2010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AECA9F-78A3-C74E-FDE9-30652956BF33}"/>
              </a:ext>
            </a:extLst>
          </p:cNvPr>
          <p:cNvSpPr txBox="1"/>
          <p:nvPr/>
        </p:nvSpPr>
        <p:spPr>
          <a:xfrm>
            <a:off x="5438584" y="5524997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2010-2015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0201EA-9C7C-9B2C-8C83-5C3D057AEAD3}"/>
              </a:ext>
            </a:extLst>
          </p:cNvPr>
          <p:cNvSpPr txBox="1"/>
          <p:nvPr/>
        </p:nvSpPr>
        <p:spPr>
          <a:xfrm>
            <a:off x="9487534" y="5557263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2015-2020</a:t>
            </a:r>
          </a:p>
        </p:txBody>
      </p:sp>
    </p:spTree>
    <p:extLst>
      <p:ext uri="{BB962C8B-B14F-4D97-AF65-F5344CB8AC3E}">
        <p14:creationId xmlns:p14="http://schemas.microsoft.com/office/powerpoint/2010/main" val="3306964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DA267-5B59-C728-FB9A-AD31F8D8F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097C673-0702-F185-ECBA-251D17822919}"/>
              </a:ext>
            </a:extLst>
          </p:cNvPr>
          <p:cNvSpPr txBox="1">
            <a:spLocks/>
          </p:cNvSpPr>
          <p:nvPr/>
        </p:nvSpPr>
        <p:spPr>
          <a:xfrm>
            <a:off x="732173" y="293478"/>
            <a:ext cx="9378478" cy="64633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Pc1, pc2 and pc3 in subperiods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87782A-3352-CDB5-B519-D33E00AD1E4B}"/>
              </a:ext>
            </a:extLst>
          </p:cNvPr>
          <p:cNvSpPr txBox="1"/>
          <p:nvPr/>
        </p:nvSpPr>
        <p:spPr>
          <a:xfrm>
            <a:off x="732173" y="939809"/>
            <a:ext cx="59945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How the Core Factors Evolve Over Time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BEA74-23E6-E818-98C0-BF187A3AD075}"/>
              </a:ext>
            </a:extLst>
          </p:cNvPr>
          <p:cNvSpPr txBox="1"/>
          <p:nvPr/>
        </p:nvSpPr>
        <p:spPr>
          <a:xfrm>
            <a:off x="732173" y="1482115"/>
            <a:ext cx="1105949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FF0000"/>
                </a:solidFill>
              </a:rPr>
              <a:t>PC1 (Synchronization Pulse): </a:t>
            </a:r>
            <a:r>
              <a:rPr lang="en-US" sz="1600" dirty="0"/>
              <a:t>Acts as a market-wide force during crises (2008, 2020), where all stocks move together. In stable periods (2010–2015), its influence weakens, indicating reduced market synchronization.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FF0000"/>
                </a:solidFill>
              </a:rPr>
              <a:t>PC2 &amp; PC3 (Industry Rotation):</a:t>
            </a:r>
            <a:br>
              <a:rPr lang="en-US" sz="1600" dirty="0">
                <a:solidFill>
                  <a:srgbClr val="FF0000"/>
                </a:solidFill>
              </a:rPr>
            </a:br>
            <a:r>
              <a:rPr lang="en-US" sz="1600" dirty="0"/>
              <a:t>Capture the shift in sector leadership over time: </a:t>
            </a:r>
            <a:br>
              <a:rPr lang="en-US" sz="1600" dirty="0"/>
            </a:br>
            <a:r>
              <a:rPr lang="en-US" sz="1600" dirty="0"/>
              <a:t>	</a:t>
            </a:r>
            <a:r>
              <a:rPr lang="en-US" sz="1600" dirty="0">
                <a:solidFill>
                  <a:srgbClr val="FF0000"/>
                </a:solidFill>
              </a:rPr>
              <a:t>- 2005–2010: </a:t>
            </a:r>
            <a:r>
              <a:rPr lang="en-US" sz="1600" dirty="0"/>
              <a:t>Dominated by Financials, Energy and Industrials </a:t>
            </a:r>
            <a:br>
              <a:rPr lang="en-US" sz="1600" dirty="0"/>
            </a:br>
            <a:r>
              <a:rPr lang="en-US" sz="1600" dirty="0">
                <a:solidFill>
                  <a:srgbClr val="FF0000"/>
                </a:solidFill>
              </a:rPr>
              <a:t>	- 2015–2020: </a:t>
            </a:r>
            <a:r>
              <a:rPr lang="en-US" sz="1600" dirty="0"/>
              <a:t>Shift toward Healthcare, Technology and Financials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FF0000"/>
                </a:solidFill>
              </a:rPr>
              <a:t>Emergence of New Factors: </a:t>
            </a:r>
            <a:r>
              <a:rPr lang="en-US" sz="1600" dirty="0"/>
              <a:t>In 2015–2020, higher components (PC3/PC4) reveal a distinct Healthcare-driven factor, reflecting its role as a key structural driver and crisis hedge during the pandemic.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A8E3A9-A351-584D-9601-0097C7D21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27" y="4388687"/>
            <a:ext cx="3863822" cy="23289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F6CC4D-03A9-6033-6276-FD2736207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412" y="4388687"/>
            <a:ext cx="3863824" cy="23289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AE6D04-76E0-EB85-A77C-FA1FC12DA5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751" y="4388687"/>
            <a:ext cx="3863823" cy="232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695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7B73E-452F-758C-CC70-D6016435C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372DF25-FB05-A38E-E5B5-ABB55FD8050D}"/>
              </a:ext>
            </a:extLst>
          </p:cNvPr>
          <p:cNvSpPr txBox="1">
            <a:spLocks/>
          </p:cNvSpPr>
          <p:nvPr/>
        </p:nvSpPr>
        <p:spPr>
          <a:xfrm>
            <a:off x="473639" y="48481"/>
            <a:ext cx="9378478" cy="64633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Multi-frequency sectoral evolution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9E7F3F-EE2A-B9A9-8344-E4CAA856147A}"/>
              </a:ext>
            </a:extLst>
          </p:cNvPr>
          <p:cNvSpPr txBox="1"/>
          <p:nvPr/>
        </p:nvSpPr>
        <p:spPr>
          <a:xfrm>
            <a:off x="473639" y="524082"/>
            <a:ext cx="60362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How Frequency Reveals Structural Shifts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3C2B1A-6375-0B41-7EE6-E48C4CCC4C2A}"/>
              </a:ext>
            </a:extLst>
          </p:cNvPr>
          <p:cNvSpPr txBox="1"/>
          <p:nvPr/>
        </p:nvSpPr>
        <p:spPr>
          <a:xfrm>
            <a:off x="473639" y="985747"/>
            <a:ext cx="127361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FF0000"/>
                </a:solidFill>
              </a:rPr>
              <a:t>Daily (The “Noise Layer”): </a:t>
            </a:r>
            <a:r>
              <a:rPr lang="en-US" sz="1400" dirty="0"/>
              <a:t>Dominated by short-term fluctuations and liquidity effects.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FF0000"/>
                </a:solidFill>
              </a:rPr>
              <a:t>Weekly (Balanced View): </a:t>
            </a:r>
            <a:r>
              <a:rPr lang="en-US" sz="1400" dirty="0"/>
              <a:t>Reduces noise and reveals clearer sector relationships. </a:t>
            </a:r>
            <a:r>
              <a:rPr lang="en-US" sz="1400" b="1" dirty="0"/>
              <a:t>Offers a better signal-to-noise balance.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FF0000"/>
                </a:solidFill>
              </a:rPr>
              <a:t>Monthly (Structural Signal): </a:t>
            </a:r>
            <a:r>
              <a:rPr lang="en-US" sz="1400" dirty="0"/>
              <a:t>Filters out daily volatility to show true economic drivers. </a:t>
            </a:r>
            <a:r>
              <a:rPr lang="en-US" sz="1400" b="1" dirty="0"/>
              <a:t>Highlights stable, long-term sector dependencies.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B9F727-BEC3-1D1A-F962-1123E5557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751" y="2015346"/>
            <a:ext cx="3863822" cy="2328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A90787-D338-1EFA-1E0F-E1027811B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3751" y="4480599"/>
            <a:ext cx="3863823" cy="23289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6DCDF4-38A9-320A-50B2-A3A85E2990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4089" y="4480600"/>
            <a:ext cx="3863821" cy="23289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E92177-1A54-D6DF-FC7A-F73E153C9F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5" y="4480599"/>
            <a:ext cx="3863821" cy="23289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008012-765F-D721-F835-4522D675F2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4088" y="2015345"/>
            <a:ext cx="3863821" cy="23289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86689A1-1918-4DE7-0FA7-BB0A5BACF1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25" y="2015346"/>
            <a:ext cx="3863821" cy="232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736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Key Market Insights &amp; Robustness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752" y="1642437"/>
            <a:ext cx="10205139" cy="2990523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Low Dimensionality: </a:t>
            </a:r>
            <a:r>
              <a:rPr lang="en-US" sz="1800" dirty="0"/>
              <a:t>Just 15–30 monthly components capture 80% of total market variance.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Systemic Dominance: </a:t>
            </a:r>
            <a:r>
              <a:rPr lang="en-US" sz="1800" dirty="0"/>
              <a:t>PC1 serves as a universal market factor, spiking during the 2008 and 2020 crises.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Horizon Clarity: </a:t>
            </a:r>
            <a:r>
              <a:rPr lang="en-US" sz="1800" dirty="0"/>
              <a:t>Monthly returns filter out short-term noise to reveal the market’s underlying macroeconomic backbone.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Regime Shifts: </a:t>
            </a:r>
            <a:r>
              <a:rPr lang="en-US" sz="1800" dirty="0"/>
              <a:t>Intrinsic dimensionality collapses during systemic shocks and expands during stable growth periods.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Sectoral Evolution: </a:t>
            </a:r>
            <a:r>
              <a:rPr lang="en-US" sz="1800" dirty="0"/>
              <a:t>Market drivers keeps changing with subperiod.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Scale of This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3260489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15-Year Timeframe: </a:t>
            </a:r>
            <a:r>
              <a:rPr lang="en-US" sz="1800" dirty="0"/>
              <a:t>Analysis covering January 2005 to December 2020.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Fixed Stock Universe: </a:t>
            </a:r>
            <a:r>
              <a:rPr lang="en-US" sz="1800" dirty="0"/>
              <a:t>378 tickers from the NIFTY 500 maintained throughout the study to ensure temporal consistency and avoid survivorship bias.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High Data Density: </a:t>
            </a:r>
            <a:r>
              <a:rPr lang="en-US" sz="1800" dirty="0"/>
              <a:t>Total analysis of over 1.4 million individual data elements for the daily frequency alone.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Multi-Frequency Horizon: </a:t>
            </a:r>
            <a:r>
              <a:rPr lang="en-US" sz="1800" dirty="0"/>
              <a:t>Comparison across Daily, Weekly, and Monthly return frequencies.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Temporal Segmentation: </a:t>
            </a:r>
            <a:r>
              <a:rPr lang="en-US" sz="1800" dirty="0"/>
              <a:t>Detailed investigation of market evolution across 3 distinct five-year economic subperiods.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Extensibility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Extend dataset beyond 2020</a:t>
            </a:r>
          </a:p>
          <a:p>
            <a:r>
              <a:rPr dirty="0"/>
              <a:t>Incorporate non-linear methods (autoencoders, VAEs)</a:t>
            </a:r>
          </a:p>
          <a:p>
            <a:r>
              <a:rPr dirty="0"/>
              <a:t>Develop dynamic/time-varying factor models</a:t>
            </a:r>
          </a:p>
          <a:p>
            <a:r>
              <a:rPr dirty="0"/>
              <a:t>Apply to other markets and asset classes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Predictive Potential</a:t>
            </a:r>
            <a:r>
              <a:rPr lang="en-US" sz="3600" dirty="0"/>
              <a:t> –</a:t>
            </a:r>
            <a:r>
              <a:rPr sz="3600" dirty="0"/>
              <a:t> Can It Predict Future Prices?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752" y="1807899"/>
            <a:ext cx="10058400" cy="3173404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Structural Insight, Not Point Prediction: </a:t>
            </a:r>
            <a:r>
              <a:rPr lang="en-US" sz="1800" dirty="0"/>
              <a:t>Captures the market’s underlying structure and systemic risk, rather than forecasting exact price levels.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Early Warning Signals: </a:t>
            </a:r>
            <a:r>
              <a:rPr lang="en-US" sz="1800" dirty="0"/>
              <a:t>Spikes in PC1 variance indicate rising systemic stress and potential market-wide instability.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Signal Extraction: </a:t>
            </a:r>
            <a:r>
              <a:rPr lang="en-US" sz="1800" dirty="0"/>
              <a:t>Filters out short-term noise to reveal true economic relationships between assets.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Risk Regime Detection: </a:t>
            </a:r>
            <a:r>
              <a:rPr lang="en-US" sz="1800" dirty="0"/>
              <a:t>Identifies crisis phases where markets move together and diversification breaks down.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Core Limitation: </a:t>
            </a:r>
            <a:r>
              <a:rPr lang="en-US" sz="1800" dirty="0"/>
              <a:t>As a linear model, it may miss non-linear shocks and highlights patterns, not direct causation.</a:t>
            </a:r>
            <a:endParaRPr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Why Dataset Only Till 2020?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2485426"/>
          </a:xfrm>
        </p:spPr>
        <p:txBody>
          <a:bodyPr>
            <a:normAutofit/>
          </a:bodyPr>
          <a:lstStyle/>
          <a:p>
            <a:r>
              <a:rPr lang="en-US" dirty="0"/>
              <a:t>N</a:t>
            </a:r>
            <a:r>
              <a:rPr dirty="0"/>
              <a:t>eed for a clean, consistent 15-year window</a:t>
            </a:r>
          </a:p>
          <a:p>
            <a:r>
              <a:rPr dirty="0"/>
              <a:t>Covers major economic regimes (crisis, recovery, pre-COVID)</a:t>
            </a:r>
          </a:p>
          <a:p>
            <a:r>
              <a:rPr dirty="0"/>
              <a:t>Fixed-universe construction more reliable up to 2020</a:t>
            </a:r>
            <a:r>
              <a:rPr lang="en-US" dirty="0"/>
              <a:t>, Extending beyond 2020 would require </a:t>
            </a:r>
            <a:r>
              <a:rPr lang="en-US" dirty="0">
                <a:solidFill>
                  <a:srgbClr val="FF0000"/>
                </a:solidFill>
              </a:rPr>
              <a:t>dropping many stocks</a:t>
            </a:r>
            <a:r>
              <a:rPr lang="en-US" dirty="0"/>
              <a:t>, reducing reliability and comparability.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Limitations of the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121408"/>
            <a:ext cx="10058400" cy="2563803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Linearity Assumption: </a:t>
            </a:r>
            <a:r>
              <a:rPr lang="en-US" sz="1800" dirty="0"/>
              <a:t>PCA is a linear model, so it may miss non-linear dynamics during extreme events or market panics.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Survivorship Bias: </a:t>
            </a:r>
            <a:r>
              <a:rPr lang="en-US" sz="1800" dirty="0"/>
              <a:t>Using a fixed set of stocks (2005–2020) focuses on surviving firms, potentially overstating stability.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Latent Factors (Not Causal): </a:t>
            </a:r>
            <a:r>
              <a:rPr lang="en-US" sz="1800" dirty="0"/>
              <a:t>Identifies where risk exists, but does not directly link it to external drivers (e.g., interest rates, policy).</a:t>
            </a:r>
          </a:p>
          <a:p>
            <a:r>
              <a:rPr lang="en-US" sz="1800" dirty="0">
                <a:solidFill>
                  <a:srgbClr val="FF0000"/>
                </a:solidFill>
              </a:rPr>
              <a:t>Fixed Time Windows: </a:t>
            </a:r>
            <a:r>
              <a:rPr lang="en-US" sz="1800" dirty="0"/>
              <a:t>Assumes stability within 5-year periods, while in reality market structure evolves continuously.</a:t>
            </a:r>
            <a:endParaRPr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Conclusion &amp; Main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Indian equity market has low intrinsic dimensionality</a:t>
            </a:r>
          </a:p>
          <a:p>
            <a:r>
              <a:t>Dominated by a strong market factor + few sectoral factors</a:t>
            </a:r>
          </a:p>
          <a:p>
            <a:r>
              <a:t>Fixed-universe + multi-frequency + RMT approach is effective</a:t>
            </a:r>
          </a:p>
          <a:p>
            <a:r>
              <a:t>Geometric perspective reveals hidden order in market data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Future Work &amp;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Future Work:</a:t>
            </a:r>
          </a:p>
          <a:p>
            <a:r>
              <a:rPr dirty="0"/>
              <a:t>Extend dataset to 2025 and beyond</a:t>
            </a:r>
          </a:p>
          <a:p>
            <a:r>
              <a:rPr dirty="0"/>
              <a:t>Non-linear dimensionality reduction</a:t>
            </a:r>
          </a:p>
          <a:p>
            <a:r>
              <a:rPr dirty="0"/>
              <a:t>Dynamic factor models and ML integration</a:t>
            </a:r>
          </a:p>
          <a:p>
            <a:endParaRPr dirty="0"/>
          </a:p>
          <a:p>
            <a:r>
              <a:rPr dirty="0"/>
              <a:t>Thank You!</a:t>
            </a:r>
          </a:p>
          <a:p>
            <a:r>
              <a:rPr dirty="0"/>
              <a:t>I welcome your questions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1993</TotalTime>
  <Words>1988</Words>
  <Application>Microsoft Office PowerPoint</Application>
  <PresentationFormat>Widescreen</PresentationFormat>
  <Paragraphs>205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Calibri</vt:lpstr>
      <vt:lpstr>Rockwell</vt:lpstr>
      <vt:lpstr>Rockwell Condensed</vt:lpstr>
      <vt:lpstr>Wingdings</vt:lpstr>
      <vt:lpstr>Wood Type</vt:lpstr>
      <vt:lpstr>The Intrinsic Dimensionality of the Stock Market: A Geometric Approach to Factor-Based Market Analysis</vt:lpstr>
      <vt:lpstr>Agenda</vt:lpstr>
      <vt:lpstr>Introduction: The Indian equity Market landscape</vt:lpstr>
      <vt:lpstr>The Curse of Dimensionality in Financial Markets</vt:lpstr>
      <vt:lpstr>Geometric Perspective: Markets as High-Dimensional Objects</vt:lpstr>
      <vt:lpstr>Motivation &amp; Research Objectives</vt:lpstr>
      <vt:lpstr>Main Contributions &amp; Highlights</vt:lpstr>
      <vt:lpstr>Relation to Existing Literature</vt:lpstr>
      <vt:lpstr>Why Our Work is Reliable ?</vt:lpstr>
      <vt:lpstr>Connection to Random Matrix Theory</vt:lpstr>
      <vt:lpstr>Data Collection – Fixed NIFTY 500 Universe</vt:lpstr>
      <vt:lpstr>Preprocessing &amp; Dataset Characteristics</vt:lpstr>
      <vt:lpstr>Research Methodology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Market Insights &amp; Robustness</vt:lpstr>
      <vt:lpstr>Scale of This Study</vt:lpstr>
      <vt:lpstr>Extensibility of the Work</vt:lpstr>
      <vt:lpstr>Predictive Potential – Can It Predict Future Prices?</vt:lpstr>
      <vt:lpstr>Why Dataset Only Till 2020?</vt:lpstr>
      <vt:lpstr>Limitations of the Study</vt:lpstr>
      <vt:lpstr>Conclusion &amp; Main Takeaways</vt:lpstr>
      <vt:lpstr>Future Work &amp;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Rohan Kumar Mahato</cp:lastModifiedBy>
  <cp:revision>13</cp:revision>
  <dcterms:created xsi:type="dcterms:W3CDTF">2013-01-27T09:14:16Z</dcterms:created>
  <dcterms:modified xsi:type="dcterms:W3CDTF">2026-04-28T05:36:52Z</dcterms:modified>
  <cp:category/>
</cp:coreProperties>
</file>