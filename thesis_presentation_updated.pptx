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9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3" r:id="rId19"/>
    <p:sldId id="278" r:id="rId20"/>
    <p:sldId id="274" r:id="rId21"/>
    <p:sldId id="275" r:id="rId22"/>
    <p:sldId id="276" r:id="rId23"/>
    <p:sldId id="277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020" y="-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EB902-AFA0-E429-858D-BFD906510D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AAC366-5A91-79A6-3FF7-FE2C8288DA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E2623-3D61-87D4-5587-F13877CB2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14C69C-73F7-FDB2-1949-AA808DBAB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76E4E-62FC-3791-4BC6-933C10585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886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28A8B-CDDC-45FF-37E6-72869483B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AD1FA-A028-23A7-82C7-C549E751C6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CB2D3-538B-8FC0-BDA1-4B941211C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45904-1070-6620-8067-79FBEF9D1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F7C4A5-9268-6BA7-77BE-EBF386485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445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F5B63-D721-13CA-F1C2-ACD98A244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32132B-FA99-B2F5-A45D-79CDDA2A0F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66B15-329A-50BD-8729-197CECB99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A4DBF-BB12-5F01-ED06-C0B7483F1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FEDCE-A8BC-5F40-352F-905736A3A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269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84A82-E00F-62CB-F3FC-A0EDE7396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CEE0D-0FB5-FDBD-0920-F46754F4BB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633CD8-645C-43C6-13BC-11012F3D8D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C95EE0-669A-A385-BA7D-AE5C31A07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D185CF-99B5-E671-C73E-A7E9E57DD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D75A9D-0C5B-C095-FE82-EC363A9A1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749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E6628-C9C7-BF99-E66C-0DE46B180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5EB305-178E-89DF-0C88-04508921C6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B77D3E-E43C-969C-7476-88611FB253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23DBC6-7615-96B0-2155-BBE0B0D16E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C94721-EEBC-016A-4C48-20E0FD6691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BE03D4-D145-0931-6DF7-BD7D94E37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7B376D-C230-FDDE-4E08-6EC32169D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FD3843-72B2-C9C4-3675-73B022611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59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3C8C5-21CB-66FC-0007-F774DF693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590F9D-4435-F5F5-9C1A-67B9E0B47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A555CF-674E-FA4F-7E1C-DD2899D6F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A3E664-2334-AFA5-1B5B-77DA63DD3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248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2C9B7F-72FA-C37F-DE07-DF1D93381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FB27C2-0437-272A-7ECC-BAC4579A5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55FCEA-F063-A306-3C86-E1F4AB007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400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1AAE4-BB6D-95E5-80E2-E97EDB8EC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13034-8B42-A3BD-EAF7-8E7E0A5552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020039-623D-8E54-486C-2645FC2650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B27812-C0ED-D597-E3E0-E4312DF99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D3B4F7-2550-9F46-26D9-59556BAA2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5946B0-B03B-2500-CD81-7BEB7B7C9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12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A8830-875E-348E-C3DD-F84F92961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27DF57-359B-7A37-E80D-D7ADEF015F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D95F8A-0036-263A-0BEB-CECEF22BF1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DAF123-6FC2-68BB-C4E9-FBE2381CF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3F5E80-A827-917D-2407-D06797E4B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1942DA-0A69-7A63-A709-AA9EBF0BD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27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6419E-415F-6C6F-2E35-DEBC02AE1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EC2606-C155-A576-FA71-A91DFF5AE0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2DB1DC-7E21-444E-0C14-EC5DBDACE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60B370-31E5-C523-A4A5-528CF3BD2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64221-E650-5DB9-A21A-25646E04A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586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FCE323-DBB6-F499-56F7-E9905AFDA0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123F2-EA04-6F7C-9285-19F0C29D23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D346D2-2979-ABDC-0DB3-CBDB3678F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507EA4-5744-6AE1-C58F-1140C8C3C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856B51-8577-72F3-35B0-6F01084DE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588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210692-21CC-2479-5C17-3ED83BFEE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49E54B-161C-8C32-69B7-DCE63403F3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0CFDA-8DA0-E49A-667B-C7F32F8362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14B1ED-B855-26AD-6B3D-617DCB51F4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581A81-5AC1-32EC-932B-B16F1DA0BC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805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0202" y="2294170"/>
            <a:ext cx="7772400" cy="1470025"/>
          </a:xfrm>
        </p:spPr>
        <p:txBody>
          <a:bodyPr>
            <a:normAutofit fontScale="90000"/>
          </a:bodyPr>
          <a:lstStyle/>
          <a:p>
            <a:r>
              <a:rPr b="1" dirty="0"/>
              <a:t>The Intrinsic Dimensionality of the Indian Stock Market: A Geometric Approach to Factor-Based Market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96002" y="4423954"/>
            <a:ext cx="6400800" cy="1115270"/>
          </a:xfrm>
        </p:spPr>
        <p:txBody>
          <a:bodyPr>
            <a:normAutofit/>
          </a:bodyPr>
          <a:lstStyle/>
          <a:p>
            <a:r>
              <a:rPr lang="en-US" dirty="0"/>
              <a:t>Rohan Kumar Mahato</a:t>
            </a:r>
          </a:p>
          <a:p>
            <a:r>
              <a:rPr lang="en-US" dirty="0"/>
              <a:t>220101088</a:t>
            </a:r>
          </a:p>
          <a:p>
            <a:r>
              <a:rPr lang="en-US" dirty="0" err="1"/>
              <a:t>Btech</a:t>
            </a:r>
            <a:r>
              <a:rPr lang="en-US" dirty="0"/>
              <a:t> CSE 4</a:t>
            </a:r>
            <a:r>
              <a:rPr lang="en-US" baseline="30000" dirty="0"/>
              <a:t>th</a:t>
            </a:r>
            <a:r>
              <a:rPr lang="en-US" dirty="0"/>
              <a:t> Yr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6702FA-BBDF-1324-9144-FF7945D3E282}"/>
              </a:ext>
            </a:extLst>
          </p:cNvPr>
          <p:cNvSpPr txBox="1"/>
          <p:nvPr/>
        </p:nvSpPr>
        <p:spPr>
          <a:xfrm>
            <a:off x="5678904" y="5717829"/>
            <a:ext cx="317599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Under the Guidance of  </a:t>
            </a:r>
          </a:p>
          <a:p>
            <a:r>
              <a:rPr lang="en-US" dirty="0"/>
              <a:t>Prof. </a:t>
            </a:r>
            <a:r>
              <a:rPr lang="en-US" b="1" dirty="0"/>
              <a:t>Benny George K</a:t>
            </a:r>
            <a:r>
              <a:rPr lang="en-US" dirty="0"/>
              <a:t> </a:t>
            </a:r>
          </a:p>
          <a:p>
            <a:r>
              <a:rPr lang="en-US" dirty="0"/>
              <a:t>Supervisor: </a:t>
            </a:r>
            <a:r>
              <a:rPr lang="en-US" b="1" dirty="0"/>
              <a:t>Sriram </a:t>
            </a:r>
            <a:r>
              <a:rPr lang="en-US" b="1" dirty="0" err="1"/>
              <a:t>Bhyravarapu</a:t>
            </a:r>
            <a:endParaRPr lang="en-US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rPr b="1" dirty="0"/>
              <a:t>The Challenge of High-Dimensional Market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2400" dirty="0"/>
          </a:p>
          <a:p>
            <a:pPr algn="l">
              <a:defRPr sz="1800"/>
            </a:pPr>
            <a:r>
              <a:rPr sz="2000" dirty="0"/>
              <a:t>The Indian equity market (NIFTY 500) involves 500+ securities, creating a high-dimensional system.</a:t>
            </a:r>
          </a:p>
          <a:p>
            <a:pPr algn="l">
              <a:defRPr sz="1800"/>
            </a:pPr>
            <a:r>
              <a:rPr sz="2000" dirty="0"/>
              <a:t>Tracking co-movements is computationally intensive and prone to noise due to the '</a:t>
            </a:r>
            <a:r>
              <a:rPr sz="2000" b="1" dirty="0"/>
              <a:t>curse of dimensionality</a:t>
            </a:r>
            <a:r>
              <a:rPr sz="2000" dirty="0"/>
              <a:t>.'</a:t>
            </a:r>
          </a:p>
          <a:p>
            <a:pPr algn="l">
              <a:defRPr sz="1800"/>
            </a:pPr>
            <a:r>
              <a:rPr sz="2000" dirty="0"/>
              <a:t>Difficulty in distinguishing signals from noise in vast data volumes.</a:t>
            </a:r>
          </a:p>
        </p:txBody>
      </p:sp>
      <p:pic>
        <p:nvPicPr>
          <p:cNvPr id="4" name="Picture 3" descr="high_d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0342" y="38862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rPr b="1" dirty="0"/>
              <a:t>Core Problem and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algn="l">
              <a:defRPr sz="1800"/>
            </a:pPr>
            <a:r>
              <a:rPr sz="2000" dirty="0"/>
              <a:t>Central Problem: Analytical complexity</a:t>
            </a:r>
            <a:r>
              <a:rPr lang="en-US" sz="2000" dirty="0"/>
              <a:t> (</a:t>
            </a:r>
            <a:r>
              <a:rPr lang="en-US" sz="2000" dirty="0" err="1"/>
              <a:t>e.g</a:t>
            </a:r>
            <a:r>
              <a:rPr lang="en-US" sz="2000" dirty="0"/>
              <a:t> portfolio optimization)</a:t>
            </a:r>
            <a:r>
              <a:rPr sz="2000" dirty="0"/>
              <a:t> in modeling 500+ stocks interactions.</a:t>
            </a:r>
          </a:p>
          <a:p>
            <a:pPr algn="l">
              <a:defRPr sz="1800"/>
            </a:pPr>
            <a:r>
              <a:rPr sz="2000" dirty="0"/>
              <a:t>Goal: Reduce dimensionality from hundreds of stocks to a small set of core underlying factors.</a:t>
            </a:r>
          </a:p>
          <a:p>
            <a:pPr algn="l">
              <a:defRPr sz="1800"/>
            </a:pPr>
            <a:r>
              <a:rPr sz="2000" dirty="0"/>
              <a:t>This enables efficient analysis of market drivers without losing key insights.</a:t>
            </a:r>
          </a:p>
        </p:txBody>
      </p:sp>
      <p:pic>
        <p:nvPicPr>
          <p:cNvPr id="4" name="Picture 3" descr="dim_redu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5590" y="41148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rPr b="1" dirty="0"/>
              <a:t>Evidence of Non-Random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/>
            </a:pPr>
            <a:r>
              <a:rPr sz="2000" dirty="0"/>
              <a:t>If returns were independent, distances would concentrate, and vectors would be near-orthogonal</a:t>
            </a:r>
            <a:r>
              <a:rPr lang="en-US" sz="2000" dirty="0"/>
              <a:t>—</a:t>
            </a:r>
            <a:r>
              <a:rPr sz="2000" dirty="0"/>
              <a:t>contradicting observed trends like rallies</a:t>
            </a:r>
            <a:r>
              <a:rPr lang="en-US" sz="2000" dirty="0"/>
              <a:t> (days moving together)</a:t>
            </a:r>
            <a:r>
              <a:rPr sz="2000" dirty="0"/>
              <a:t> and volatility clustering</a:t>
            </a:r>
            <a:r>
              <a:rPr lang="en-US" sz="2000" dirty="0"/>
              <a:t> (periods of high vs. low variance)</a:t>
            </a:r>
            <a:r>
              <a:rPr sz="2000" dirty="0"/>
              <a:t>.</a:t>
            </a:r>
          </a:p>
          <a:p>
            <a:pPr algn="l">
              <a:defRPr sz="1800"/>
            </a:pPr>
            <a:r>
              <a:rPr sz="2000" dirty="0"/>
              <a:t>Empirical structure suggests data lies in a low-dimensional subspace.</a:t>
            </a:r>
          </a:p>
          <a:p>
            <a:pPr algn="l">
              <a:defRPr sz="1800"/>
            </a:pPr>
            <a:r>
              <a:rPr sz="2000" dirty="0"/>
              <a:t>Equation for distance:</a:t>
            </a:r>
          </a:p>
        </p:txBody>
      </p:sp>
      <p:pic>
        <p:nvPicPr>
          <p:cNvPr id="5" name="Picture 4" descr="eq_dis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4010"/>
            <a:ext cx="4788568" cy="9642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E1846D-F9A3-B06C-2B36-C84CF278AE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8711" y="4778306"/>
            <a:ext cx="6295289" cy="207969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C2F9244-3D47-3DF7-E924-0D904090CBCA}"/>
              </a:ext>
            </a:extLst>
          </p:cNvPr>
          <p:cNvSpPr txBox="1"/>
          <p:nvPr/>
        </p:nvSpPr>
        <p:spPr>
          <a:xfrm>
            <a:off x="0" y="6519072"/>
            <a:ext cx="29212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Src</a:t>
            </a:r>
            <a:r>
              <a:rPr lang="en-US" sz="1400" dirty="0"/>
              <a:t>: https://web.lums.edu.pk/~imdad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rPr b="1" dirty="0"/>
              <a:t>Motivation to Study 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2400" dirty="0"/>
          </a:p>
          <a:p>
            <a:pPr algn="l">
              <a:defRPr sz="1800"/>
            </a:pPr>
            <a:r>
              <a:rPr sz="2000" dirty="0"/>
              <a:t>High-dimensional markets overwhelm analysts</a:t>
            </a:r>
            <a:r>
              <a:rPr lang="en-US" sz="2000" dirty="0"/>
              <a:t>,</a:t>
            </a:r>
            <a:r>
              <a:rPr sz="2000" dirty="0"/>
              <a:t> reduction simplifies modeling.</a:t>
            </a:r>
          </a:p>
          <a:p>
            <a:pPr algn="l">
              <a:defRPr sz="1800"/>
            </a:pPr>
            <a:r>
              <a:rPr sz="2000" dirty="0"/>
              <a:t>Geometric insights reveal why markets aren't random, enabling better signal detection.</a:t>
            </a:r>
          </a:p>
          <a:p>
            <a:pPr algn="l">
              <a:defRPr sz="1800"/>
            </a:pPr>
            <a:r>
              <a:rPr sz="2000" dirty="0"/>
              <a:t>Addresses real-world issues like computational inefficiency in large datasets.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rPr b="1" dirty="0"/>
              <a:t>Applications of the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algn="l">
              <a:defRPr sz="1800"/>
            </a:pPr>
            <a:r>
              <a:rPr sz="2000" dirty="0"/>
              <a:t>Efficient market explanation: Analyze via few factors (e.g., market factor, sector tensions).</a:t>
            </a:r>
          </a:p>
          <a:p>
            <a:pPr algn="l">
              <a:defRPr sz="1800"/>
            </a:pPr>
            <a:r>
              <a:rPr sz="2000" dirty="0"/>
              <a:t>Risk assessment and portfolio construction in reduced space.</a:t>
            </a:r>
          </a:p>
          <a:p>
            <a:pPr algn="l">
              <a:defRPr sz="1800"/>
            </a:pPr>
            <a:r>
              <a:rPr sz="2000" dirty="0"/>
              <a:t>Broader uses: Data compression, latent factor discovery in finance.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rPr b="1" dirty="0"/>
              <a:t>Domain Perspective – Geometric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algn="l">
              <a:defRPr sz="1800"/>
            </a:pPr>
            <a:r>
              <a:rPr sz="2000" dirty="0"/>
              <a:t>Study from a geometric lens: View market as points in high-D space, not just statistical data</a:t>
            </a:r>
            <a:r>
              <a:rPr lang="en-US" sz="2000" dirty="0"/>
              <a:t> (variance and correlation)</a:t>
            </a:r>
            <a:r>
              <a:rPr sz="2000" dirty="0"/>
              <a:t>.</a:t>
            </a:r>
          </a:p>
          <a:p>
            <a:pPr algn="l">
              <a:defRPr sz="1800"/>
            </a:pPr>
            <a:r>
              <a:rPr sz="2000" dirty="0"/>
              <a:t>Use properties like distance concentration and near-orthogonality to justify non-randomness.</a:t>
            </a:r>
          </a:p>
          <a:p>
            <a:pPr algn="l">
              <a:defRPr sz="1800"/>
            </a:pPr>
            <a:r>
              <a:rPr sz="2000" dirty="0"/>
              <a:t>Bridge geometry with finance for rigorous dimensionality reduction.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rPr b="1" dirty="0"/>
              <a:t>Why This Perspective?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algn="l">
              <a:defRPr sz="1800"/>
            </a:pPr>
            <a:r>
              <a:rPr sz="2000" dirty="0"/>
              <a:t>Traditional stats overlook high-D quirks</a:t>
            </a:r>
            <a:r>
              <a:rPr lang="en-US" sz="2000" dirty="0"/>
              <a:t>,</a:t>
            </a:r>
            <a:r>
              <a:rPr sz="2000" dirty="0"/>
              <a:t> geometry provides intuitive motivation.</a:t>
            </a:r>
          </a:p>
          <a:p>
            <a:pPr algn="l">
              <a:defRPr sz="1800"/>
            </a:pPr>
            <a:r>
              <a:rPr sz="2000" dirty="0"/>
              <a:t>Reveals intrinsic low-D structure, making analysis defensible and novel.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675718"/>
              </p:ext>
            </p:extLst>
          </p:nvPr>
        </p:nvGraphicFramePr>
        <p:xfrm>
          <a:off x="830179" y="3789947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Statistical 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Geometric View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/>
                        <a:t>Variance/Correlation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Subspaces/Distances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Insight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Factors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/>
                        <a:t>Low-D Manifold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DAEA8-1A54-865A-BD88-43D394AD2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5400" dirty="0"/>
              <a:t>Establishing the Background</a:t>
            </a:r>
          </a:p>
        </p:txBody>
      </p:sp>
    </p:spTree>
    <p:extLst>
      <p:ext uri="{BB962C8B-B14F-4D97-AF65-F5344CB8AC3E}">
        <p14:creationId xmlns:p14="http://schemas.microsoft.com/office/powerpoint/2010/main" val="22193707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rPr b="1" dirty="0"/>
              <a:t>High-Dimensional Space –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algn="l">
              <a:defRPr sz="1800"/>
            </a:pPr>
            <a:r>
              <a:rPr dirty="0"/>
              <a:t>Geometry in high-D is counter-intuitive: Distances similar, volume near surface/equator.</a:t>
            </a:r>
          </a:p>
          <a:p>
            <a:pPr algn="l">
              <a:defRPr sz="1800"/>
            </a:pPr>
            <a:r>
              <a:rPr dirty="0"/>
              <a:t>Beneficial: Explains why random market models fail, justifying reduction.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2E3677-47F0-8237-0CB4-E3F0518EE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7558" y="3317472"/>
            <a:ext cx="4908884" cy="280869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6C74FD-7464-990B-F164-E337D9812FD7}"/>
              </a:ext>
            </a:extLst>
          </p:cNvPr>
          <p:cNvSpPr txBox="1"/>
          <p:nvPr/>
        </p:nvSpPr>
        <p:spPr>
          <a:xfrm>
            <a:off x="2346158" y="6576809"/>
            <a:ext cx="69295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Img</a:t>
            </a:r>
            <a:r>
              <a:rPr lang="en-US" sz="1200" dirty="0"/>
              <a:t> </a:t>
            </a:r>
            <a:r>
              <a:rPr lang="en-US" sz="1200" dirty="0" err="1"/>
              <a:t>src</a:t>
            </a:r>
            <a:r>
              <a:rPr lang="en-US" sz="1200" dirty="0"/>
              <a:t>: https://math.stackexchange.com/questions/15656/volumes-of-n-balls-what-is-so-special-about-n-5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rPr b="1" dirty="0"/>
              <a:t>Law of Large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algn="l">
              <a:defRPr sz="1800"/>
            </a:pPr>
            <a:r>
              <a:rPr dirty="0"/>
              <a:t>LLN: Averages converge</a:t>
            </a:r>
            <a:r>
              <a:rPr lang="en-US" dirty="0"/>
              <a:t>,</a:t>
            </a:r>
            <a:r>
              <a:rPr dirty="0"/>
              <a:t> bounds via Chebyshev:</a:t>
            </a:r>
          </a:p>
          <a:p>
            <a:pPr algn="l">
              <a:defRPr sz="1800"/>
            </a:pPr>
            <a:r>
              <a:rPr dirty="0"/>
              <a:t>In markets: Distances concentrate in high-D random data.</a:t>
            </a:r>
          </a:p>
          <a:p>
            <a:pPr algn="l">
              <a:defRPr sz="1800"/>
            </a:pPr>
            <a:r>
              <a:rPr dirty="0"/>
              <a:t>Beneficial: Shows non-random markets must have low-D structure.</a:t>
            </a:r>
          </a:p>
        </p:txBody>
      </p:sp>
      <p:pic>
        <p:nvPicPr>
          <p:cNvPr id="4" name="Picture 3" descr="eq_ll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726" y="3383738"/>
            <a:ext cx="4295274" cy="8590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2383B6-4A5A-B1C9-D6E2-581483A61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7414" y="3566300"/>
            <a:ext cx="4649860" cy="220404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rPr b="1" dirty="0"/>
              <a:t>Geometry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algn="l">
              <a:defRPr sz="1800"/>
            </a:pPr>
            <a:r>
              <a:rPr dirty="0"/>
              <a:t>Shrinking by (1-ε) reduces volume by (1-ε)^d → thin shell.</a:t>
            </a:r>
          </a:p>
          <a:p>
            <a:pPr algn="l">
              <a:defRPr sz="1800"/>
            </a:pPr>
            <a:r>
              <a:rPr dirty="0"/>
              <a:t>Most volume in annulus near boundary.</a:t>
            </a:r>
            <a:endParaRPr lang="en-US" dirty="0"/>
          </a:p>
          <a:p>
            <a:pPr marL="0" indent="0" algn="l">
              <a:buNone/>
              <a:defRPr sz="1800"/>
            </a:pPr>
            <a:endParaRPr dirty="0"/>
          </a:p>
          <a:p>
            <a:pPr algn="l">
              <a:defRPr sz="1800"/>
            </a:pPr>
            <a:r>
              <a:rPr dirty="0"/>
              <a:t>Beneficial: Highlights curse of dimensionality in finance data.</a:t>
            </a:r>
            <a:endParaRPr lang="en-US" dirty="0"/>
          </a:p>
          <a:p>
            <a:pPr marL="342900" lvl="1" indent="0">
              <a:buNone/>
              <a:defRPr sz="1800"/>
            </a:pPr>
            <a:r>
              <a:rPr lang="en-US" b="1" dirty="0"/>
              <a:t>-&gt;</a:t>
            </a:r>
            <a:r>
              <a:rPr lang="en-US" dirty="0"/>
              <a:t> If we try to find 'similar days' using nearest-neighbor search in raw 500D space, the algorithm struggles because every day looks equally far apart (contrast loss). This motivates why we </a:t>
            </a:r>
            <a:r>
              <a:rPr lang="en-US" i="1" dirty="0"/>
              <a:t>must</a:t>
            </a:r>
            <a:r>
              <a:rPr lang="en-US" dirty="0"/>
              <a:t> reduce dimensions to find meaningful clusters."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07A2F8-B654-5EB9-D559-948DA180A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5542" y="4604326"/>
            <a:ext cx="3495054" cy="21095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rPr b="1" dirty="0"/>
              <a:t>Volume and Surface Area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021624"/>
            <a:ext cx="8458200" cy="2261618"/>
          </a:xfrm>
        </p:spPr>
        <p:txBody>
          <a:bodyPr>
            <a:normAutofit/>
          </a:bodyPr>
          <a:lstStyle/>
          <a:p>
            <a:endParaRPr dirty="0"/>
          </a:p>
          <a:p>
            <a:pPr algn="l">
              <a:defRPr sz="1800"/>
            </a:pPr>
            <a:r>
              <a:rPr dirty="0"/>
              <a:t>Unit ball:</a:t>
            </a:r>
            <a:endParaRPr lang="en-US" dirty="0"/>
          </a:p>
          <a:p>
            <a:pPr marL="0" indent="0" algn="l">
              <a:buNone/>
              <a:defRPr sz="1800"/>
            </a:pPr>
            <a:endParaRPr lang="en-US" dirty="0"/>
          </a:p>
          <a:p>
            <a:pPr marL="0" indent="0" algn="l">
              <a:buNone/>
              <a:defRPr sz="1800"/>
            </a:pPr>
            <a:endParaRPr dirty="0"/>
          </a:p>
          <a:p>
            <a:pPr algn="l">
              <a:defRPr sz="1800"/>
            </a:pPr>
            <a:r>
              <a:rPr dirty="0"/>
              <a:t>Equator concentration: Mass where |x1| = O(1/√d).</a:t>
            </a:r>
          </a:p>
          <a:p>
            <a:pPr algn="l">
              <a:defRPr sz="1800"/>
            </a:pPr>
            <a:r>
              <a:rPr dirty="0"/>
              <a:t>Beneficial: Motivates why market data clusters in subspaces.</a:t>
            </a:r>
          </a:p>
        </p:txBody>
      </p:sp>
      <p:pic>
        <p:nvPicPr>
          <p:cNvPr id="4" name="Picture 3" descr="ball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143000"/>
            <a:ext cx="3657600" cy="2743200"/>
          </a:xfrm>
          <a:prstGeom prst="rect">
            <a:avLst/>
          </a:prstGeom>
        </p:spPr>
      </p:pic>
      <p:pic>
        <p:nvPicPr>
          <p:cNvPr id="5" name="Picture 4" descr="eq_volu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4106" y="2281187"/>
            <a:ext cx="434340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rPr b="1" dirty="0"/>
              <a:t>Sampling and Gaussians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algn="l">
              <a:defRPr sz="1800"/>
            </a:pPr>
            <a:r>
              <a:rPr dirty="0"/>
              <a:t>Uniform sampling: Normalize Gaussian + scale by r^</a:t>
            </a:r>
            <a:r>
              <a:rPr lang="en-US" dirty="0"/>
              <a:t>(d-1)</a:t>
            </a:r>
            <a:r>
              <a:rPr dirty="0"/>
              <a:t>.</a:t>
            </a:r>
            <a:endParaRPr lang="en-US" dirty="0"/>
          </a:p>
          <a:p>
            <a:pPr algn="l">
              <a:defRPr sz="1800"/>
            </a:pPr>
            <a:endParaRPr dirty="0"/>
          </a:p>
          <a:p>
            <a:pPr algn="l">
              <a:defRPr sz="1800"/>
            </a:pPr>
            <a:r>
              <a:rPr dirty="0"/>
              <a:t>Gaussians: </a:t>
            </a:r>
            <a:r>
              <a:rPr b="1" dirty="0"/>
              <a:t>Mass in annulus ~</a:t>
            </a:r>
            <a:r>
              <a:rPr b="1" dirty="0" err="1"/>
              <a:t>σ√d</a:t>
            </a:r>
            <a:r>
              <a:rPr b="1" dirty="0"/>
              <a:t>.</a:t>
            </a:r>
            <a:endParaRPr lang="en-US" b="1" dirty="0"/>
          </a:p>
          <a:p>
            <a:pPr algn="l">
              <a:defRPr sz="1800"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A6AD33-C31A-3D58-C4A0-F89894C73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573" y="4007628"/>
            <a:ext cx="3420854" cy="211853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rPr b="1" dirty="0"/>
              <a:t>Gaussian Annulus Theorem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1466215"/>
          </a:xfrm>
        </p:spPr>
        <p:txBody>
          <a:bodyPr/>
          <a:lstStyle/>
          <a:p>
            <a:endParaRPr dirty="0"/>
          </a:p>
          <a:p>
            <a:pPr algn="l">
              <a:defRPr sz="1800"/>
            </a:pPr>
            <a:endParaRPr dirty="0"/>
          </a:p>
          <a:p>
            <a:pPr>
              <a:defRPr sz="1800"/>
            </a:pPr>
            <a:r>
              <a:rPr lang="en-US" b="1" dirty="0"/>
              <a:t>Theorem:</a:t>
            </a:r>
            <a:r>
              <a:rPr lang="en-US" dirty="0"/>
              <a:t> For high-dimensional random vectors, the probability of falling outside a thin "shell" (annulus) drops exponentially.</a:t>
            </a:r>
            <a:endParaRPr dirty="0"/>
          </a:p>
        </p:txBody>
      </p:sp>
      <p:pic>
        <p:nvPicPr>
          <p:cNvPr id="4" name="Picture 3" descr="eq_annul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6926" y="3149867"/>
            <a:ext cx="5390147" cy="10780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54F19A-5639-F7E4-12F5-926CCCDC29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9382" y="4557391"/>
            <a:ext cx="5477691" cy="16195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1DBFA00-19F9-7736-021C-B7D6C1475CA2}"/>
              </a:ext>
            </a:extLst>
          </p:cNvPr>
          <p:cNvSpPr txBox="1"/>
          <p:nvPr/>
        </p:nvSpPr>
        <p:spPr>
          <a:xfrm>
            <a:off x="4528227" y="5992297"/>
            <a:ext cx="2037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Separating gaussian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rPr b="1" dirty="0"/>
              <a:t>Random Projections and JL Lemma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algn="l">
              <a:defRPr sz="1800"/>
            </a:pPr>
            <a:r>
              <a:rPr dirty="0"/>
              <a:t>Projections preserve norms/distances with high prob.</a:t>
            </a:r>
            <a:endParaRPr lang="en-US" dirty="0"/>
          </a:p>
          <a:p>
            <a:pPr lvl="1">
              <a:defRPr sz="1800"/>
            </a:pPr>
            <a:r>
              <a:rPr lang="en-US" dirty="0"/>
              <a:t>The JL Lemma states: We don't even need to be careful while projecting high-dimensional data onto a </a:t>
            </a:r>
            <a:r>
              <a:rPr lang="en-US" b="1" dirty="0"/>
              <a:t>random</a:t>
            </a:r>
            <a:r>
              <a:rPr lang="en-US" dirty="0"/>
              <a:t> lower-dimensional subspace as the relative distances between points stay roughly the same.</a:t>
            </a:r>
          </a:p>
          <a:p>
            <a:pPr lvl="1">
              <a:defRPr sz="1800"/>
            </a:pPr>
            <a:endParaRPr dirty="0"/>
          </a:p>
          <a:p>
            <a:pPr algn="l">
              <a:defRPr sz="1800"/>
            </a:pPr>
            <a:r>
              <a:rPr b="1" dirty="0"/>
              <a:t>JL: k ≥ O(ln n/ε²) preserves pairwise distances.</a:t>
            </a:r>
            <a:endParaRPr dirty="0"/>
          </a:p>
          <a:p>
            <a:pPr algn="l">
              <a:defRPr sz="1800"/>
            </a:pPr>
            <a:r>
              <a:rPr dirty="0"/>
              <a:t>Beneficial: Theoretical basis for dimensionality reduction without loss.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714046-6A57-443A-D30E-0059D76C4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983" y="4589060"/>
            <a:ext cx="6534034" cy="201836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rPr b="1" dirty="0"/>
              <a:t>Best-Fit Subspaces and SVD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49" y="1253331"/>
            <a:ext cx="7886700" cy="1124109"/>
          </a:xfrm>
        </p:spPr>
        <p:txBody>
          <a:bodyPr/>
          <a:lstStyle/>
          <a:p>
            <a:endParaRPr dirty="0"/>
          </a:p>
          <a:p>
            <a:pPr algn="l">
              <a:defRPr sz="1800"/>
            </a:pPr>
            <a:r>
              <a:rPr dirty="0"/>
              <a:t>SVD: A = U D V^T finds best k-D subspace minimizing squared distances.</a:t>
            </a:r>
          </a:p>
          <a:p>
            <a:pPr algn="l">
              <a:defRPr sz="1800"/>
            </a:pPr>
            <a:r>
              <a:rPr dirty="0"/>
              <a:t>Beneficial: Core tool for market factorization.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C82C87-E70F-4413-7241-85641C1C3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1606" y="4869805"/>
            <a:ext cx="3267809" cy="18799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8546BFF-53B6-6F7F-6119-55ED9AD9DB0D}"/>
              </a:ext>
            </a:extLst>
          </p:cNvPr>
          <p:cNvSpPr txBox="1"/>
          <p:nvPr/>
        </p:nvSpPr>
        <p:spPr>
          <a:xfrm>
            <a:off x="767014" y="2377440"/>
            <a:ext cx="774833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-&gt;</a:t>
            </a:r>
            <a:r>
              <a:rPr lang="en-US" b="1" dirty="0"/>
              <a:t> A (The Data):</a:t>
            </a:r>
            <a:r>
              <a:rPr lang="en-US" dirty="0"/>
              <a:t> This is your 10-year NIFTY 500 matrix (2500 days×500 stocks).</a:t>
            </a:r>
            <a:br>
              <a:rPr lang="en-US" dirty="0"/>
            </a:br>
            <a:r>
              <a:rPr lang="en-US" dirty="0"/>
              <a:t>-&gt; </a:t>
            </a:r>
            <a:r>
              <a:rPr lang="en-US" b="1" dirty="0"/>
              <a:t>U (Left Singular Vectors):</a:t>
            </a:r>
            <a:r>
              <a:rPr lang="en-US" dirty="0"/>
              <a:t> These represent the </a:t>
            </a:r>
            <a:r>
              <a:rPr lang="en-US" b="1" dirty="0"/>
              <a:t>"Market Regimes"</a:t>
            </a:r>
            <a:r>
              <a:rPr lang="en-US" dirty="0"/>
              <a:t> (patterns in time). They tell you </a:t>
            </a:r>
            <a:r>
              <a:rPr lang="en-US" i="1" dirty="0"/>
              <a:t>when</a:t>
            </a:r>
            <a:r>
              <a:rPr lang="en-US" dirty="0"/>
              <a:t> specific factors were active.</a:t>
            </a:r>
            <a:br>
              <a:rPr lang="en-US" dirty="0"/>
            </a:br>
            <a:r>
              <a:rPr lang="en-US" dirty="0"/>
              <a:t>-&gt; </a:t>
            </a:r>
            <a:r>
              <a:rPr lang="en-US" b="1" dirty="0"/>
              <a:t>Σ (Singular Values):</a:t>
            </a:r>
            <a:r>
              <a:rPr lang="en-US" dirty="0"/>
              <a:t> These are diagonal numbers representing the </a:t>
            </a:r>
            <a:r>
              <a:rPr lang="en-US" b="1" dirty="0"/>
              <a:t>"Strength"</a:t>
            </a:r>
            <a:r>
              <a:rPr lang="en-US" dirty="0"/>
              <a:t> of each factor. A large value means that factor explains a lot of market variance.</a:t>
            </a:r>
            <a:br>
              <a:rPr lang="en-US" dirty="0"/>
            </a:br>
            <a:r>
              <a:rPr lang="en-US" dirty="0"/>
              <a:t>-&gt; </a:t>
            </a:r>
            <a:r>
              <a:rPr lang="en-US" b="1" dirty="0"/>
              <a:t>VT (Right Singular Vectors):</a:t>
            </a:r>
            <a:r>
              <a:rPr lang="en-US" dirty="0"/>
              <a:t> These represent the </a:t>
            </a:r>
            <a:r>
              <a:rPr lang="en-US" b="1" dirty="0"/>
              <a:t>"Factors"</a:t>
            </a:r>
            <a:r>
              <a:rPr lang="en-US" dirty="0"/>
              <a:t> themselves (patterns in stocks). They tell you </a:t>
            </a:r>
            <a:r>
              <a:rPr lang="en-US" i="1" dirty="0"/>
              <a:t>which stocks</a:t>
            </a:r>
            <a:r>
              <a:rPr lang="en-US" dirty="0"/>
              <a:t> move together (e.g., a "Banking Sector" vector).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rPr b="1" dirty="0"/>
              <a:t>SVD Applications and Norms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lang="en-US" sz="1800" b="1" dirty="0"/>
              <a:t>Optimal Reduction:</a:t>
            </a:r>
            <a:r>
              <a:rPr lang="en-US" sz="1800" dirty="0"/>
              <a:t> SVD guarantees the mathematically "best" rank-k approximation (Ak​) of the market matrix.</a:t>
            </a:r>
          </a:p>
          <a:p>
            <a:r>
              <a:rPr lang="en-US" sz="1800" b="1" dirty="0"/>
              <a:t>Error Control:</a:t>
            </a:r>
            <a:r>
              <a:rPr lang="en-US" sz="1800" dirty="0"/>
              <a:t> This approximation minimizes the </a:t>
            </a:r>
            <a:r>
              <a:rPr lang="en-US" sz="1800" b="1" dirty="0"/>
              <a:t>Frobenius Norm</a:t>
            </a:r>
            <a:r>
              <a:rPr lang="en-US" sz="1800" dirty="0"/>
              <a:t> (total squared error), ensuring minimal information loss.</a:t>
            </a:r>
          </a:p>
          <a:p>
            <a:r>
              <a:rPr lang="en-US" sz="1800" b="1" dirty="0"/>
              <a:t>Factor Selection:</a:t>
            </a:r>
            <a:r>
              <a:rPr lang="en-US" sz="1800" dirty="0"/>
              <a:t> The </a:t>
            </a:r>
            <a:r>
              <a:rPr lang="en-US" sz="1800" b="1" dirty="0"/>
              <a:t>Scree Plot</a:t>
            </a:r>
            <a:r>
              <a:rPr lang="en-US" sz="1800" dirty="0"/>
              <a:t> (right) identifies the "Elbow Point" to </a:t>
            </a:r>
            <a:r>
              <a:rPr lang="en-US" sz="2000" dirty="0"/>
              <a:t>determine the optimal number of factors (k).</a:t>
            </a:r>
          </a:p>
          <a:p>
            <a:pPr algn="l">
              <a:defRPr sz="1800"/>
            </a:pPr>
            <a:r>
              <a:rPr dirty="0"/>
              <a:t>Beneficial: Enables efficient compression and analysis in finance.</a:t>
            </a:r>
          </a:p>
        </p:txBody>
      </p:sp>
      <p:pic>
        <p:nvPicPr>
          <p:cNvPr id="4" name="Picture 3" descr="scree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011" y="4345908"/>
            <a:ext cx="3349456" cy="251209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F7741-51DD-B2DB-AFAB-C7DF6A8E1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/>
              <a:t>Future Work</a:t>
            </a:r>
          </a:p>
        </p:txBody>
      </p:sp>
    </p:spTree>
    <p:extLst>
      <p:ext uri="{BB962C8B-B14F-4D97-AF65-F5344CB8AC3E}">
        <p14:creationId xmlns:p14="http://schemas.microsoft.com/office/powerpoint/2010/main" val="15069474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rPr b="1" dirty="0"/>
              <a:t>Data Collection and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algn="l">
              <a:defRPr sz="1800"/>
            </a:pPr>
            <a:r>
              <a:rPr dirty="0"/>
              <a:t>Collect 10+ years of NIFTY 500 daily adjusted prices.</a:t>
            </a:r>
          </a:p>
          <a:p>
            <a:pPr algn="l">
              <a:defRPr sz="1800"/>
            </a:pPr>
            <a:r>
              <a:rPr dirty="0"/>
              <a:t>Transform to log-returns, standardize (Z-score).</a:t>
            </a:r>
            <a:endParaRPr lang="en-US" dirty="0"/>
          </a:p>
          <a:p>
            <a:pPr algn="l">
              <a:defRPr sz="1800"/>
            </a:pPr>
            <a:endParaRPr dirty="0"/>
          </a:p>
          <a:p>
            <a:pPr algn="l">
              <a:defRPr sz="1800"/>
            </a:pPr>
            <a:r>
              <a:rPr lang="en-US" dirty="0"/>
              <a:t>Phase 2</a:t>
            </a:r>
            <a:r>
              <a:rPr dirty="0"/>
              <a:t>: Implement in Python, handle missing data.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rPr b="1" dirty="0"/>
              <a:t>Matrix Factorization and Intrinsic Dimension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algn="l">
              <a:defRPr sz="1800"/>
            </a:pPr>
            <a:r>
              <a:rPr dirty="0"/>
              <a:t>Perform SVD/PCA on return matrix.</a:t>
            </a:r>
          </a:p>
          <a:p>
            <a:pPr algn="l">
              <a:defRPr sz="1800"/>
            </a:pPr>
            <a:r>
              <a:rPr dirty="0"/>
              <a:t>Use scree plot to find k (where it flattens).</a:t>
            </a:r>
          </a:p>
          <a:p>
            <a:pPr algn="l">
              <a:defRPr sz="1800"/>
            </a:pPr>
            <a:r>
              <a:rPr lang="en-US" dirty="0"/>
              <a:t>Phase 2</a:t>
            </a:r>
            <a:r>
              <a:rPr dirty="0"/>
              <a:t>: Analyze components for economic interpretation.</a:t>
            </a:r>
          </a:p>
        </p:txBody>
      </p:sp>
      <p:pic>
        <p:nvPicPr>
          <p:cNvPr id="4" name="Picture 3" descr="scree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34290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rPr b="1" dirty="0"/>
              <a:t>Model Construction and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algn="l">
              <a:defRPr sz="1800"/>
            </a:pPr>
            <a:r>
              <a:rPr dirty="0"/>
              <a:t>Reduce to k-D model with top components.</a:t>
            </a:r>
          </a:p>
          <a:p>
            <a:pPr algn="l">
              <a:defRPr sz="1800"/>
            </a:pPr>
            <a:r>
              <a:rPr dirty="0"/>
              <a:t>Validate: Explain market variance, compare to benchmarks.</a:t>
            </a:r>
          </a:p>
          <a:p>
            <a:pPr algn="l">
              <a:defRPr sz="1800"/>
            </a:pPr>
            <a:r>
              <a:rPr lang="en-US" dirty="0"/>
              <a:t>Phase 2</a:t>
            </a:r>
            <a:r>
              <a:rPr dirty="0"/>
              <a:t>: Test on out-of-sample data, explore factor interpretations (e.g., market vs. sectors).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DB660-84B5-4411-83DA-4B289E379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160048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839</TotalTime>
  <Words>1044</Words>
  <Application>Microsoft Office PowerPoint</Application>
  <PresentationFormat>On-screen Show (4:3)</PresentationFormat>
  <Paragraphs>122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Office Theme</vt:lpstr>
      <vt:lpstr>The Intrinsic Dimensionality of the Indian Stock Market: A Geometric Approach to Factor-Based Market Analysis</vt:lpstr>
      <vt:lpstr>The Challenge of High-Dimensional Market Data</vt:lpstr>
      <vt:lpstr>Core Problem and Goal</vt:lpstr>
      <vt:lpstr>Evidence of Non-Random Structure</vt:lpstr>
      <vt:lpstr>Motivation to Study the Problem</vt:lpstr>
      <vt:lpstr>Applications of the Approach</vt:lpstr>
      <vt:lpstr>Domain Perspective – Geometric Approach</vt:lpstr>
      <vt:lpstr>Why This Perspective?</vt:lpstr>
      <vt:lpstr>Establishing the Background</vt:lpstr>
      <vt:lpstr>High-Dimensional Space – Introduction</vt:lpstr>
      <vt:lpstr>Law of Large Numbers</vt:lpstr>
      <vt:lpstr>Geometry Properties</vt:lpstr>
      <vt:lpstr>Volume and Surface Area</vt:lpstr>
      <vt:lpstr>Sampling and Gaussians</vt:lpstr>
      <vt:lpstr>Gaussian Annulus Theorem</vt:lpstr>
      <vt:lpstr>Random Projections and JL Lemma</vt:lpstr>
      <vt:lpstr>Best-Fit Subspaces and SVD</vt:lpstr>
      <vt:lpstr>SVD Applications and Norms</vt:lpstr>
      <vt:lpstr>Future Work</vt:lpstr>
      <vt:lpstr>Data Collection and Preparation</vt:lpstr>
      <vt:lpstr>Matrix Factorization and Intrinsic Dimension</vt:lpstr>
      <vt:lpstr>Model Construction and Validation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Rohan Kumar Mahato</dc:creator>
  <cp:keywords/>
  <dc:description>generated using python-pptx</dc:description>
  <cp:lastModifiedBy>Rohan Kumar Mahato</cp:lastModifiedBy>
  <cp:revision>13</cp:revision>
  <dcterms:created xsi:type="dcterms:W3CDTF">2013-01-27T09:14:16Z</dcterms:created>
  <dcterms:modified xsi:type="dcterms:W3CDTF">2025-11-25T08:55:28Z</dcterms:modified>
  <cp:category/>
</cp:coreProperties>
</file>