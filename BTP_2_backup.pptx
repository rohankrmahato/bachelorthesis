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60" y="7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5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14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39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69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22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6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7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18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6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09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D92682-B3D2-26AD-451A-6D44E7DC0F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7729" y="2005346"/>
            <a:ext cx="10598877" cy="1759665"/>
          </a:xfrm>
        </p:spPr>
        <p:txBody>
          <a:bodyPr>
            <a:noAutofit/>
          </a:bodyPr>
          <a:lstStyle/>
          <a:p>
            <a:r>
              <a:rPr sz="4800" dirty="0"/>
              <a:t>The Intrinsic Dimensionality of the Stock Market:</a:t>
            </a:r>
          </a:p>
          <a:p>
            <a:r>
              <a:rPr sz="4800" dirty="0">
                <a:solidFill>
                  <a:srgbClr val="FF0000"/>
                </a:solidFill>
              </a:rPr>
              <a:t>A Geometric Approach to Factor-Based Market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3530D-6279-0FA7-2CDB-2EFD0A4C95BC}"/>
              </a:ext>
            </a:extLst>
          </p:cNvPr>
          <p:cNvSpPr txBox="1"/>
          <p:nvPr/>
        </p:nvSpPr>
        <p:spPr>
          <a:xfrm>
            <a:off x="887728" y="5434148"/>
            <a:ext cx="27593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Rohan Kumar Mahato</a:t>
            </a:r>
            <a:br>
              <a:rPr lang="en-US" sz="2000" dirty="0"/>
            </a:br>
            <a:r>
              <a:rPr lang="en-US" sz="2000" dirty="0"/>
              <a:t>220101088</a:t>
            </a:r>
          </a:p>
          <a:p>
            <a:r>
              <a:rPr lang="en-US" sz="2000" dirty="0" err="1"/>
              <a:t>Btech</a:t>
            </a:r>
            <a:r>
              <a:rPr lang="en-US" sz="2000" dirty="0"/>
              <a:t>, CSE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DC1A0-F93A-8E25-13AA-ED82747D9650}"/>
              </a:ext>
            </a:extLst>
          </p:cNvPr>
          <p:cNvSpPr txBox="1"/>
          <p:nvPr/>
        </p:nvSpPr>
        <p:spPr>
          <a:xfrm>
            <a:off x="8467904" y="5434148"/>
            <a:ext cx="372409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Under Guidance of</a:t>
            </a:r>
          </a:p>
          <a:p>
            <a:r>
              <a:rPr lang="en-US" sz="2000" dirty="0"/>
              <a:t>	- Prof. Benny George K</a:t>
            </a:r>
          </a:p>
          <a:p>
            <a:r>
              <a:rPr lang="en-US" sz="2000" dirty="0"/>
              <a:t>	- Prof. Sriram </a:t>
            </a:r>
            <a:r>
              <a:rPr lang="en-US" sz="2000" dirty="0" err="1"/>
              <a:t>Bhyravarapu</a:t>
            </a:r>
            <a:endParaRPr lang="en-US" sz="2000" dirty="0"/>
          </a:p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0A46EA-53E9-3733-B9B3-FAB93E3803CB}"/>
              </a:ext>
            </a:extLst>
          </p:cNvPr>
          <p:cNvCxnSpPr/>
          <p:nvPr/>
        </p:nvCxnSpPr>
        <p:spPr>
          <a:xfrm>
            <a:off x="8709" y="5312229"/>
            <a:ext cx="1216152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25000" lnSpcReduction="20000"/>
          </a:bodyPr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Introduction &amp; Motivation</a:t>
            </a:r>
          </a:p>
          <a:p>
            <a:pPr>
              <a:spcAft>
                <a:spcPts val="1000"/>
              </a:spcAft>
              <a:defRPr sz="2000"/>
            </a:pPr>
            <a:r>
              <a:t>Contributions, Highlights &amp; Novelty</a:t>
            </a:r>
          </a:p>
          <a:p>
            <a:pPr>
              <a:spcAft>
                <a:spcPts val="1000"/>
              </a:spcAft>
              <a:defRPr sz="2000"/>
            </a:pPr>
            <a:r>
              <a:t>Proof of Correctness &amp; Methodological Rigor</a:t>
            </a:r>
          </a:p>
          <a:p>
            <a:pPr>
              <a:spcAft>
                <a:spcPts val="1000"/>
              </a:spcAft>
              <a:defRPr sz="2000"/>
            </a:pPr>
            <a:r>
              <a:t>Mathematical Foundations</a:t>
            </a:r>
          </a:p>
          <a:p>
            <a:pPr>
              <a:spcAft>
                <a:spcPts val="1000"/>
              </a:spcAft>
              <a:defRPr sz="2000"/>
            </a:pPr>
            <a:r>
              <a:t>Data Collection &amp; Preprocessing</a:t>
            </a:r>
          </a:p>
          <a:p>
            <a:pPr>
              <a:spcAft>
                <a:spcPts val="1000"/>
              </a:spcAft>
              <a:defRPr sz="2000"/>
            </a:pPr>
            <a:r>
              <a:t>Research Methodology</a:t>
            </a:r>
          </a:p>
          <a:p>
            <a:pPr>
              <a:spcAft>
                <a:spcPts val="1000"/>
              </a:spcAft>
              <a:defRPr sz="2000"/>
            </a:pPr>
            <a:r>
              <a:t>Full-Sample Empirical Results</a:t>
            </a:r>
          </a:p>
          <a:p>
            <a:pPr>
              <a:spcAft>
                <a:spcPts val="1000"/>
              </a:spcAft>
              <a:defRPr sz="2000"/>
            </a:pPr>
            <a:r>
              <a:t>Subperiod Analysis &amp; Temporal Evolution</a:t>
            </a:r>
          </a:p>
          <a:p>
            <a:pPr>
              <a:spcAft>
                <a:spcPts val="1000"/>
              </a:spcAft>
              <a:defRPr sz="2000"/>
            </a:pPr>
            <a:r>
              <a:t>Economic Interpretation &amp; Insights</a:t>
            </a:r>
          </a:p>
          <a:p>
            <a:pPr>
              <a:spcAft>
                <a:spcPts val="1000"/>
              </a:spcAft>
              <a:defRPr sz="2000"/>
            </a:pPr>
            <a:r>
              <a:t>Scale, Extensibility &amp; Predictive Potential</a:t>
            </a:r>
          </a:p>
          <a:p>
            <a:pPr>
              <a:spcAft>
                <a:spcPts val="1000"/>
              </a:spcAft>
              <a:defRPr sz="2000"/>
            </a:pPr>
            <a:r>
              <a:t>Why Data Till 2020? + Limitations</a:t>
            </a:r>
          </a:p>
          <a:p>
            <a:pPr>
              <a:spcAft>
                <a:spcPts val="1000"/>
              </a:spcAft>
              <a:defRPr sz="2000"/>
            </a:pPr>
            <a:r>
              <a:t>Conclusion, Future Work &amp; Takeaways</a:t>
            </a:r>
          </a:p>
          <a:p>
            <a:pPr>
              <a:spcAft>
                <a:spcPts val="1000"/>
              </a:spcAft>
              <a:defRPr sz="2000"/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Introduction – Background of the Indian Equity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One of the fastest-growing emerging equity markets</a:t>
            </a:r>
          </a:p>
          <a:p>
            <a:pPr>
              <a:spcAft>
                <a:spcPts val="1000"/>
              </a:spcAft>
              <a:defRPr sz="2000"/>
            </a:pPr>
            <a:r>
              <a:t>NSE has over 5,000 listed companies</a:t>
            </a:r>
          </a:p>
          <a:p>
            <a:pPr>
              <a:spcAft>
                <a:spcPts val="1000"/>
              </a:spcAft>
              <a:defRPr sz="2000"/>
            </a:pPr>
            <a:r>
              <a:t>NIFTY 500 covers approximately 93% of total market cap</a:t>
            </a:r>
          </a:p>
          <a:p>
            <a:pPr>
              <a:spcAft>
                <a:spcPts val="1000"/>
              </a:spcAft>
              <a:defRPr sz="2000"/>
            </a:pPr>
            <a:r>
              <a:t>Diverse sectoral representation: IT, Financials, Pharma, Industrials, etc.</a:t>
            </a:r>
          </a:p>
          <a:p>
            <a:pPr>
              <a:spcAft>
                <a:spcPts val="1000"/>
              </a:spcAft>
              <a:defRPr sz="2000"/>
            </a:pPr>
            <a:r>
              <a:t>Massive high-dimensional daily return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The Curse of Dimensionality in Financial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For N ≈ 400 stocks: ~80,000 unique pairwise correlations</a:t>
            </a:r>
          </a:p>
          <a:p>
            <a:pPr>
              <a:spcAft>
                <a:spcPts val="1000"/>
              </a:spcAft>
              <a:defRPr sz="2000"/>
            </a:pPr>
            <a:r>
              <a:t>Distance concentration in high dimensions</a:t>
            </a:r>
          </a:p>
          <a:p>
            <a:pPr>
              <a:spcAft>
                <a:spcPts val="1000"/>
              </a:spcAft>
              <a:defRPr sz="2000"/>
            </a:pPr>
            <a:r>
              <a:t>Sample covariance matrices dominated by noise</a:t>
            </a:r>
          </a:p>
          <a:p>
            <a:pPr>
              <a:spcAft>
                <a:spcPts val="1000"/>
              </a:spcAft>
              <a:defRPr sz="2000"/>
            </a:pPr>
            <a:r>
              <a:t>Traditional statistical models frequently fail or overfit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Geometric Perspective: Markets as High-Dimensional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Each trading day treated as a vector in R^N</a:t>
            </a:r>
          </a:p>
          <a:p>
            <a:pPr>
              <a:spcAft>
                <a:spcPts val="1000"/>
              </a:spcAft>
              <a:defRPr sz="2000"/>
            </a:pPr>
            <a:r>
              <a:t>Market history forms a cloud of points in high-dimensional space</a:t>
            </a:r>
          </a:p>
          <a:p>
            <a:pPr>
              <a:spcAft>
                <a:spcPts val="1000"/>
              </a:spcAft>
              <a:defRPr sz="2000"/>
            </a:pPr>
            <a:r>
              <a:t>Gaussian Annulus Theorem (Thin Shell Phenomenon)</a:t>
            </a:r>
          </a:p>
          <a:p>
            <a:pPr>
              <a:spcAft>
                <a:spcPts val="1000"/>
              </a:spcAft>
              <a:defRPr sz="2000"/>
            </a:pPr>
            <a:r>
              <a:t>Real markets deviate significantly from pure randomness</a:t>
            </a:r>
          </a:p>
          <a:p>
            <a:pPr>
              <a:spcAft>
                <a:spcPts val="1000"/>
              </a:spcAft>
              <a:defRPr sz="2000"/>
            </a:pPr>
            <a:r>
              <a:t>Indicates presence of hidden low-dimensional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Motivation &amp; 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Uncover the intrinsic dimensionality of the Indian equity market</a:t>
            </a:r>
          </a:p>
          <a:p>
            <a:pPr>
              <a:spcAft>
                <a:spcPts val="1000"/>
              </a:spcAft>
              <a:defRPr sz="2000"/>
            </a:pPr>
            <a:r>
              <a:t>Build low-rank factor models separating signal from noise</a:t>
            </a:r>
          </a:p>
          <a:p>
            <a:pPr>
              <a:spcAft>
                <a:spcPts val="1000"/>
              </a:spcAft>
              <a:defRPr sz="2000"/>
            </a:pPr>
            <a:r>
              <a:t>Analyze stability across frequencies and economic regimes</a:t>
            </a:r>
          </a:p>
          <a:p>
            <a:pPr>
              <a:spcAft>
                <a:spcPts val="1000"/>
              </a:spcAft>
              <a:defRPr sz="2000"/>
            </a:pPr>
            <a:r>
              <a:t>Provide strong sectoral interpretability</a:t>
            </a:r>
          </a:p>
          <a:p>
            <a:pPr>
              <a:spcAft>
                <a:spcPts val="1000"/>
              </a:spcAft>
              <a:defRPr sz="2000"/>
            </a:pPr>
            <a:r>
              <a:t>Derive practical insights for risk management and portfolio construction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Main Contributions &amp;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Rigorous geometric and Random Matrix Theory foundation</a:t>
            </a:r>
          </a:p>
          <a:p>
            <a:pPr>
              <a:spcAft>
                <a:spcPts val="1000"/>
              </a:spcAft>
              <a:defRPr sz="2000"/>
            </a:pPr>
            <a:r>
              <a:t>Fixed NIFTY 500 universe (378 stocks) – eliminates survivorship bias</a:t>
            </a:r>
          </a:p>
          <a:p>
            <a:pPr>
              <a:spcAft>
                <a:spcPts val="1000"/>
              </a:spcAft>
              <a:defRPr sz="2000"/>
            </a:pPr>
            <a:r>
              <a:t>Multi-frequency analysis: daily, weekly, and monthly returns</a:t>
            </a:r>
          </a:p>
          <a:p>
            <a:pPr>
              <a:spcAft>
                <a:spcPts val="1000"/>
              </a:spcAft>
              <a:defRPr sz="2000"/>
            </a:pPr>
            <a:r>
              <a:t>Temporal regime analysis across three economic subperiods</a:t>
            </a:r>
          </a:p>
          <a:p>
            <a:pPr>
              <a:spcAft>
                <a:spcPts val="1000"/>
              </a:spcAft>
              <a:defRPr sz="2000"/>
            </a:pPr>
            <a:r>
              <a:t>Sectoral dominance analysis using loading heatmaps</a:t>
            </a:r>
          </a:p>
          <a:p>
            <a:pPr>
              <a:spcAft>
                <a:spcPts val="1000"/>
              </a:spcAft>
              <a:defRPr sz="2000"/>
            </a:pPr>
            <a:r>
              <a:t>Demonstrates low intrinsic dimensionality with economic meaning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Novelty – Relation to Existing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Not merely repeating existing work — significant extensions made:</a:t>
            </a:r>
          </a:p>
          <a:p>
            <a:pPr>
              <a:spcAft>
                <a:spcPts val="1000"/>
              </a:spcAft>
              <a:defRPr sz="2000"/>
            </a:pPr>
            <a:r>
              <a:t>• Fixed stock universe instead of dynamic indices</a:t>
            </a:r>
          </a:p>
          <a:p>
            <a:pPr>
              <a:spcAft>
                <a:spcPts val="1000"/>
              </a:spcAft>
              <a:defRPr sz="2000"/>
            </a:pPr>
            <a:r>
              <a:t>• Multi-frequency + detailed subperiod evolution</a:t>
            </a:r>
          </a:p>
          <a:p>
            <a:pPr>
              <a:spcAft>
                <a:spcPts val="1000"/>
              </a:spcAft>
              <a:defRPr sz="2000"/>
            </a:pPr>
            <a:r>
              <a:t>• Strong geometric foundation and sectoral interpretability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Related Papers:</a:t>
            </a:r>
          </a:p>
          <a:p>
            <a:pPr>
              <a:spcAft>
                <a:spcPts val="1000"/>
              </a:spcAft>
              <a:defRPr sz="2000"/>
            </a:pPr>
            <a:r>
              <a:t>• Pawanesh et al. (2024/2025) – RMT on NIFTY networks</a:t>
            </a:r>
          </a:p>
          <a:p>
            <a:pPr>
              <a:spcAft>
                <a:spcPts val="1000"/>
              </a:spcAft>
              <a:defRPr sz="2000"/>
            </a:pPr>
            <a:r>
              <a:t>• Kulkarni et al. – Early RMT applications to Indian market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Proof of Correctness – Why Our Work is Reliable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PCA derived from first principles (variance maximization + SVD)</a:t>
            </a:r>
          </a:p>
          <a:p>
            <a:pPr>
              <a:spcAft>
                <a:spcPts val="1000"/>
              </a:spcAft>
              <a:defRPr sz="2000"/>
            </a:pPr>
            <a:r>
              <a:t>Random Matrix Theory (Marchenko-Pastur law) for signal-noise separation</a:t>
            </a:r>
          </a:p>
          <a:p>
            <a:pPr>
              <a:spcAft>
                <a:spcPts val="1000"/>
              </a:spcAft>
              <a:defRPr sz="2000"/>
            </a:pPr>
            <a:r>
              <a:t>Johnson-Lindenstrauss Lemma provides theoretical guarantees</a:t>
            </a:r>
          </a:p>
          <a:p>
            <a:pPr>
              <a:spcAft>
                <a:spcPts val="1000"/>
              </a:spcAft>
              <a:defRPr sz="2000"/>
            </a:pPr>
            <a:r>
              <a:t>Results consistent across frequencies and subperiods</a:t>
            </a:r>
          </a:p>
          <a:p>
            <a:pPr>
              <a:spcAft>
                <a:spcPts val="1000"/>
              </a:spcAft>
              <a:defRPr sz="2000"/>
            </a:pPr>
            <a:r>
              <a:t>Fixed universe + standardization reduces bias</a:t>
            </a:r>
          </a:p>
          <a:p>
            <a:pPr>
              <a:spcAft>
                <a:spcPts val="1000"/>
              </a:spcAft>
              <a:defRPr sz="2000"/>
            </a:pPr>
            <a:r>
              <a:t>Fully transparent and reproducible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Mathematical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From geometry to linear algebra</a:t>
            </a:r>
          </a:p>
          <a:p>
            <a:pPr>
              <a:spcAft>
                <a:spcPts val="1000"/>
              </a:spcAft>
              <a:defRPr sz="2000"/>
            </a:pPr>
            <a:r>
              <a:t>Sample covariance matrix and eigenvalue decomposition</a:t>
            </a:r>
          </a:p>
          <a:p>
            <a:pPr>
              <a:spcAft>
                <a:spcPts val="1000"/>
              </a:spcAft>
              <a:defRPr sz="2000"/>
            </a:pPr>
            <a:r>
              <a:t>Singular Value Decomposition (SVD)</a:t>
            </a:r>
          </a:p>
          <a:p>
            <a:pPr>
              <a:spcAft>
                <a:spcPts val="1000"/>
              </a:spcAft>
              <a:defRPr sz="2000"/>
            </a:pPr>
            <a:r>
              <a:t>Standardization of returns (zero mean, unit variance)</a:t>
            </a:r>
          </a:p>
          <a:p>
            <a:pPr>
              <a:spcAft>
                <a:spcPts val="1000"/>
              </a:spcAft>
              <a:defRPr sz="2000"/>
            </a:pPr>
            <a:r>
              <a:t>Low-rank approximation and factor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Connection to Random Matrix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RMT distinguishes signal (large eigenvalues) from noise</a:t>
            </a:r>
          </a:p>
          <a:p>
            <a:pPr>
              <a:spcAft>
                <a:spcPts val="1000"/>
              </a:spcAft>
              <a:defRPr sz="2000"/>
            </a:pPr>
            <a:r>
              <a:t>PC1: Strong Market Factor</a:t>
            </a:r>
          </a:p>
          <a:p>
            <a:pPr>
              <a:spcAft>
                <a:spcPts val="1000"/>
              </a:spcAft>
              <a:defRPr sz="2000"/>
            </a:pPr>
            <a:r>
              <a:t>PC2–PC5: Sectoral and thematic rotation factors</a:t>
            </a:r>
          </a:p>
          <a:p>
            <a:pPr>
              <a:spcAft>
                <a:spcPts val="1000"/>
              </a:spcAft>
              <a:defRPr sz="2000"/>
            </a:pPr>
            <a:r>
              <a:t>PCA preferred due to variance maximization, orthogonality, and interpretability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Data Collection – Fixed NIFTY 500 Universe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Based on NIFTY 500 membership as of end of 2004</a:t>
            </a:r>
          </a:p>
          <a:p>
            <a:pPr>
              <a:spcAft>
                <a:spcPts val="1000"/>
              </a:spcAft>
              <a:defRPr sz="2000"/>
            </a:pPr>
            <a:r>
              <a:t>Final cleaned universe: 378 stocks</a:t>
            </a:r>
          </a:p>
          <a:p>
            <a:pPr>
              <a:spcAft>
                <a:spcPts val="1000"/>
              </a:spcAft>
              <a:defRPr sz="2000"/>
            </a:pPr>
            <a:r>
              <a:t>Eliminates survivorship bias for reliable long-term analysis</a:t>
            </a:r>
          </a:p>
          <a:p>
            <a:pPr>
              <a:spcAft>
                <a:spcPts val="1000"/>
              </a:spcAft>
              <a:defRPr sz="2000"/>
            </a:pPr>
            <a:r>
              <a:t>Robust ticker mapping using NSE + Yahoo Finance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Preprocessing &amp; Dataset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Historical adjusted close prices from yfinance (2005–2020)</a:t>
            </a:r>
          </a:p>
          <a:p>
            <a:pPr>
              <a:spcAft>
                <a:spcPts val="1000"/>
              </a:spcAft>
              <a:defRPr sz="2000"/>
            </a:pPr>
            <a:r>
              <a:t>Missing value imputation using forward-fill + backward-fill</a:t>
            </a:r>
          </a:p>
          <a:p>
            <a:pPr>
              <a:spcAft>
                <a:spcPts val="1000"/>
              </a:spcAft>
              <a:defRPr sz="2000"/>
            </a:pPr>
            <a:r>
              <a:t>Return calculation at three frequencies: daily, weekly, monthly</a:t>
            </a:r>
          </a:p>
          <a:p>
            <a:pPr>
              <a:spcAft>
                <a:spcPts val="1000"/>
              </a:spcAft>
              <a:defRPr sz="2000"/>
            </a:pPr>
            <a:r>
              <a:t>Standardization applied to each stock individually</a:t>
            </a:r>
          </a:p>
          <a:p>
            <a:pPr>
              <a:spcAft>
                <a:spcPts val="1000"/>
              </a:spcAft>
              <a:defRPr sz="2000"/>
            </a:pPr>
            <a:r>
              <a:t>Final dataset: ~3,720 trading days × 378 stocks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Research 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Standardize returns → Compute correlation matrix → Apply PCA</a:t>
            </a:r>
          </a:p>
          <a:p>
            <a:pPr>
              <a:spcAft>
                <a:spcPts val="1000"/>
              </a:spcAft>
              <a:defRPr sz="2000"/>
            </a:pPr>
            <a:r>
              <a:t>Multi-frequency and multi-regime (subperiod) analysis</a:t>
            </a:r>
          </a:p>
          <a:p>
            <a:pPr>
              <a:spcAft>
                <a:spcPts val="1000"/>
              </a:spcAft>
              <a:defRPr sz="2000"/>
            </a:pPr>
            <a:r>
              <a:t>Sector-wise loading analysis using average absolute loadings</a:t>
            </a:r>
          </a:p>
          <a:p>
            <a:pPr>
              <a:spcAft>
                <a:spcPts val="1000"/>
              </a:spcAft>
              <a:defRPr sz="2000"/>
            </a:pPr>
            <a:r>
              <a:t>Visualization via scree plots, cumulative variance, and heatmaps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7202" y="274321"/>
            <a:ext cx="970079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rPr sz="3600"/>
              <a:t>Full-Sample Empirical Results – Eigenvalue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20" y="1645921"/>
            <a:ext cx="713232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100"/>
            </a:pPr>
            <a:r>
              <a:rPr sz="2100"/>
              <a:t>Scree plots (linear and log scale)</a:t>
            </a:r>
          </a:p>
          <a:p>
            <a:pPr>
              <a:spcAft>
                <a:spcPts val="1200"/>
              </a:spcAft>
              <a:defRPr sz="2100"/>
            </a:pPr>
            <a:r>
              <a:rPr sz="2100"/>
              <a:t>Strong decay after first few principal components</a:t>
            </a:r>
          </a:p>
          <a:p>
            <a:pPr>
              <a:spcAft>
                <a:spcPts val="1200"/>
              </a:spcAft>
              <a:defRPr sz="2100"/>
            </a:pPr>
            <a:r>
              <a:rPr sz="2100"/>
              <a:t>Cumulative variance explained by top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70721" y="1828801"/>
            <a:ext cx="459196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FIGURE HERE]</a:t>
            </a:r>
          </a:p>
          <a:p>
            <a:r>
              <a:t>Fig 5.1 - 5.5: Scree plots &amp; Cumulative Variance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6606" y="274321"/>
            <a:ext cx="1054198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rPr sz="3600"/>
              <a:t>Full-Sample – Loading &amp; Sectoral Dominance Heatmaps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20" y="1645921"/>
            <a:ext cx="713232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100"/>
            </a:pPr>
            <a:r>
              <a:rPr sz="2100"/>
              <a:t>Stock-level loading heatmaps</a:t>
            </a:r>
          </a:p>
          <a:p>
            <a:pPr>
              <a:spcAft>
                <a:spcPts val="1200"/>
              </a:spcAft>
              <a:defRPr sz="2100"/>
            </a:pPr>
            <a:r>
              <a:rPr sz="2100"/>
              <a:t>Sectoral dominance heatmaps across frequencies</a:t>
            </a:r>
          </a:p>
          <a:p>
            <a:pPr>
              <a:spcAft>
                <a:spcPts val="1200"/>
              </a:spcAft>
              <a:defRPr sz="2100"/>
            </a:pPr>
            <a:r>
              <a:rPr sz="2100"/>
              <a:t>Clear market factor (PC1) and sectoral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70720" y="1828801"/>
            <a:ext cx="22791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FIGURE HERE]</a:t>
            </a:r>
          </a:p>
          <a:p>
            <a:r>
              <a:t>Fig 5.6 - 5.11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Subperiod Analysis – Definition &amp; Economic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2005–2010: Crisis-driven market (Global Financial Crisis)</a:t>
            </a:r>
          </a:p>
          <a:p>
            <a:pPr>
              <a:spcAft>
                <a:spcPts val="1000"/>
              </a:spcAft>
              <a:defRPr sz="2000"/>
            </a:pPr>
            <a:r>
              <a:t>2010–2015: Transition and recovery period</a:t>
            </a:r>
          </a:p>
          <a:p>
            <a:pPr>
              <a:spcAft>
                <a:spcPts val="1000"/>
              </a:spcAft>
              <a:defRPr sz="2000"/>
            </a:pPr>
            <a:r>
              <a:t>2015–2020: Reform period and early COVID impact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66047" y="274321"/>
            <a:ext cx="760310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rPr sz="3600"/>
              <a:t>Subperiod Results – Eigenvalue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20" y="1645921"/>
            <a:ext cx="713232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100"/>
            </a:pPr>
            <a:r>
              <a:rPr sz="2100"/>
              <a:t>Comparative scree plots across subperiods</a:t>
            </a:r>
          </a:p>
          <a:p>
            <a:pPr>
              <a:spcAft>
                <a:spcPts val="1200"/>
              </a:spcAft>
              <a:defRPr sz="2100"/>
            </a:pPr>
            <a:r>
              <a:rPr sz="2100"/>
              <a:t>Cumulative variance explained</a:t>
            </a:r>
          </a:p>
          <a:p>
            <a:pPr>
              <a:spcAft>
                <a:spcPts val="1200"/>
              </a:spcAft>
              <a:defRPr sz="2100"/>
            </a:pPr>
            <a:r>
              <a:rPr sz="2100"/>
              <a:t>Number of significant components remains 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70720" y="1828801"/>
            <a:ext cx="22791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FIGURE HERE]</a:t>
            </a:r>
          </a:p>
          <a:p>
            <a:r>
              <a:t>Fig 6.1 - 6.4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13234" y="274321"/>
            <a:ext cx="590873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rPr sz="3600"/>
              <a:t>Subperiod – Sectoral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20" y="1645921"/>
            <a:ext cx="713232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100"/>
            </a:pPr>
            <a:r>
              <a:rPr sz="2100"/>
              <a:t>Sectoral dominance heatmaps for each subperiod</a:t>
            </a:r>
          </a:p>
          <a:p>
            <a:pPr>
              <a:spcAft>
                <a:spcPts val="1200"/>
              </a:spcAft>
              <a:defRPr sz="2100"/>
            </a:pPr>
            <a:r>
              <a:rPr sz="2100"/>
              <a:t>Evolution of factor structure over time</a:t>
            </a:r>
          </a:p>
          <a:p>
            <a:pPr>
              <a:spcAft>
                <a:spcPts val="1200"/>
              </a:spcAft>
              <a:defRPr sz="2100"/>
            </a:pPr>
            <a:r>
              <a:rPr sz="2100"/>
              <a:t>Persistent market factor with changing sectoral influence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70720" y="1828801"/>
            <a:ext cx="22791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FIGURE HERE]</a:t>
            </a:r>
          </a:p>
          <a:p>
            <a:r>
              <a:t>Fig 6.5 - 6.7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Economic Interpretation of Principal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PC1: Dominant Market Factor representing overall economic conditions</a:t>
            </a:r>
          </a:p>
          <a:p>
            <a:pPr>
              <a:spcAft>
                <a:spcPts val="1000"/>
              </a:spcAft>
              <a:defRPr sz="2000"/>
            </a:pPr>
            <a:r>
              <a:t>PC2–PC5: Sectoral and thematic rotation factors</a:t>
            </a:r>
          </a:p>
          <a:p>
            <a:pPr>
              <a:spcAft>
                <a:spcPts val="1000"/>
              </a:spcAft>
              <a:defRPr sz="2000"/>
            </a:pPr>
            <a:r>
              <a:t>Factors are economically meaningful and robust</a:t>
            </a:r>
          </a:p>
          <a:p>
            <a:pPr>
              <a:spcAft>
                <a:spcPts val="1000"/>
              </a:spcAft>
              <a:defRPr sz="2000"/>
            </a:pPr>
            <a:r>
              <a:t>Clear mapping between statistical components and real market drivers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Key Market Insights &amp;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Indian equity market exhibits low intrinsic dimensionality</a:t>
            </a:r>
          </a:p>
          <a:p>
            <a:pPr>
              <a:spcAft>
                <a:spcPts val="1000"/>
              </a:spcAft>
              <a:defRPr sz="2000"/>
            </a:pPr>
            <a:r>
              <a:t>Structure evolves with economic regimes but remains interpretable</a:t>
            </a:r>
          </a:p>
          <a:p>
            <a:pPr>
              <a:spcAft>
                <a:spcPts val="1000"/>
              </a:spcAft>
              <a:defRPr sz="2000"/>
            </a:pPr>
            <a:r>
              <a:t>Strong robustness across frequencies and subperiods</a:t>
            </a:r>
          </a:p>
          <a:p>
            <a:pPr>
              <a:spcAft>
                <a:spcPts val="1000"/>
              </a:spcAft>
              <a:defRPr sz="2000"/>
            </a:pPr>
            <a:r>
              <a:t>Useful for risk management, factor investing, and regime detection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Scale of This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Fixed universe: 378 stocks</a:t>
            </a:r>
          </a:p>
          <a:p>
            <a:pPr>
              <a:spcAft>
                <a:spcPts val="1000"/>
              </a:spcAft>
              <a:defRPr sz="2000"/>
            </a:pPr>
            <a:r>
              <a:t>Time span: 15+ years (≈ 3,720 trading days)</a:t>
            </a:r>
          </a:p>
          <a:p>
            <a:pPr>
              <a:spcAft>
                <a:spcPts val="1000"/>
              </a:spcAft>
              <a:defRPr sz="2000"/>
            </a:pPr>
            <a:r>
              <a:t>Total data points: ~1.4 million (daily)</a:t>
            </a:r>
          </a:p>
          <a:p>
            <a:pPr>
              <a:spcAft>
                <a:spcPts val="1000"/>
              </a:spcAft>
              <a:defRPr sz="2000"/>
            </a:pPr>
            <a:r>
              <a:t>Comprehensive analysis: full-sample + 3 subperiods × 3 frequencies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Extensibility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Highly extensible framework:</a:t>
            </a:r>
          </a:p>
          <a:p>
            <a:pPr>
              <a:spcAft>
                <a:spcPts val="1000"/>
              </a:spcAft>
              <a:defRPr sz="2000"/>
            </a:pPr>
            <a:r>
              <a:t>• Extend dataset beyond 2020</a:t>
            </a:r>
          </a:p>
          <a:p>
            <a:pPr>
              <a:spcAft>
                <a:spcPts val="1000"/>
              </a:spcAft>
              <a:defRPr sz="2000"/>
            </a:pPr>
            <a:r>
              <a:t>• Incorporate non-linear methods (autoencoders, VAEs)</a:t>
            </a:r>
          </a:p>
          <a:p>
            <a:pPr>
              <a:spcAft>
                <a:spcPts val="1000"/>
              </a:spcAft>
              <a:defRPr sz="2000"/>
            </a:pPr>
            <a:r>
              <a:t>• Develop dynamic/time-varying factor models</a:t>
            </a:r>
          </a:p>
          <a:p>
            <a:pPr>
              <a:spcAft>
                <a:spcPts val="1000"/>
              </a:spcAft>
              <a:defRPr sz="2000"/>
            </a:pPr>
            <a:r>
              <a:t>• Integrate with machine learning for prediction</a:t>
            </a:r>
          </a:p>
          <a:p>
            <a:pPr>
              <a:spcAft>
                <a:spcPts val="1000"/>
              </a:spcAft>
              <a:defRPr sz="2000"/>
            </a:pPr>
            <a:r>
              <a:t>• Apply to other markets and asset classes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Predictive Potential – Can It Predict Future Prices?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Descriptive and explanatory model (uncovers hidden factors)</a:t>
            </a:r>
          </a:p>
          <a:p>
            <a:pPr>
              <a:spcAft>
                <a:spcPts val="1000"/>
              </a:spcAft>
              <a:defRPr sz="2000"/>
            </a:pPr>
            <a:r>
              <a:t>Not designed as a direct price predictor</a:t>
            </a:r>
          </a:p>
          <a:p>
            <a:pPr>
              <a:spcAft>
                <a:spcPts val="1000"/>
              </a:spcAft>
              <a:defRPr sz="2000"/>
            </a:pPr>
            <a:r>
              <a:t>Low-rank approximation useful for denoising and risk estimation</a:t>
            </a:r>
          </a:p>
          <a:p>
            <a:pPr>
              <a:spcAft>
                <a:spcPts val="1000"/>
              </a:spcAft>
              <a:defRPr sz="2000"/>
            </a:pPr>
            <a:r>
              <a:t>Extracted factors can serve as powerful features in forecasting models</a:t>
            </a:r>
          </a:p>
          <a:p>
            <a:pPr>
              <a:spcAft>
                <a:spcPts val="1000"/>
              </a:spcAft>
              <a:defRPr sz="2000"/>
            </a:pPr>
            <a:r>
              <a:t>Limitation: Markets are non-stationary and driven by new information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Why Dataset Only Till 2020?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Project timeline and need for a clean, consistent 15-year window</a:t>
            </a:r>
          </a:p>
          <a:p>
            <a:pPr>
              <a:spcAft>
                <a:spcPts val="1000"/>
              </a:spcAft>
              <a:defRPr sz="2000"/>
            </a:pPr>
            <a:r>
              <a:t>Covers major economic regimes (crisis, recovery, pre-COVID)</a:t>
            </a:r>
          </a:p>
          <a:p>
            <a:pPr>
              <a:spcAft>
                <a:spcPts val="1000"/>
              </a:spcAft>
              <a:defRPr sz="2000"/>
            </a:pPr>
            <a:r>
              <a:t>Fixed-universe construction more reliable up to 2020</a:t>
            </a:r>
          </a:p>
          <a:p>
            <a:pPr>
              <a:spcAft>
                <a:spcPts val="1000"/>
              </a:spcAft>
              <a:defRPr sz="2000"/>
            </a:pPr>
            <a:r>
              <a:t>Avoids contamination from extreme post-2020 events</a:t>
            </a:r>
          </a:p>
          <a:p>
            <a:pPr>
              <a:spcAft>
                <a:spcPts val="1000"/>
              </a:spcAft>
              <a:defRPr sz="2000"/>
            </a:pPr>
            <a:r>
              <a:t>Easily extendable to 2025 in future research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Limitations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Fixed universe misses companies listed after 2004</a:t>
            </a:r>
          </a:p>
          <a:p>
            <a:pPr>
              <a:spcAft>
                <a:spcPts val="1000"/>
              </a:spcAft>
              <a:defRPr sz="2000"/>
            </a:pPr>
            <a:r>
              <a:t>PCA assumes linear relationships</a:t>
            </a:r>
          </a:p>
          <a:p>
            <a:pPr>
              <a:spcAft>
                <a:spcPts val="1000"/>
              </a:spcAft>
              <a:defRPr sz="2000"/>
            </a:pPr>
            <a:r>
              <a:t>Dataset ends in 2020</a:t>
            </a:r>
          </a:p>
          <a:p>
            <a:pPr>
              <a:spcAft>
                <a:spcPts val="1000"/>
              </a:spcAft>
              <a:defRPr sz="2000"/>
            </a:pPr>
            <a:r>
              <a:t>Typical data quality challenges in emerging markets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Conclusion &amp; Main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Indian equity market has low intrinsic dimensionality</a:t>
            </a:r>
          </a:p>
          <a:p>
            <a:pPr>
              <a:spcAft>
                <a:spcPts val="1000"/>
              </a:spcAft>
              <a:defRPr sz="2000"/>
            </a:pPr>
            <a:r>
              <a:t>Dominated by a strong market factor + few sectoral factors</a:t>
            </a:r>
          </a:p>
          <a:p>
            <a:pPr>
              <a:spcAft>
                <a:spcPts val="1000"/>
              </a:spcAft>
              <a:defRPr sz="2000"/>
            </a:pPr>
            <a:r>
              <a:t>Fixed-universe + multi-frequency + RMT approach is effective</a:t>
            </a:r>
          </a:p>
          <a:p>
            <a:pPr>
              <a:spcAft>
                <a:spcPts val="1000"/>
              </a:spcAft>
              <a:defRPr sz="2000"/>
            </a:pPr>
            <a:r>
              <a:t>Geometric perspective reveals hidden order in market data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Future Work &amp;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Future Work:</a:t>
            </a:r>
          </a:p>
          <a:p>
            <a:pPr>
              <a:spcAft>
                <a:spcPts val="1000"/>
              </a:spcAft>
              <a:defRPr sz="2000"/>
            </a:pPr>
            <a:r>
              <a:t>   • Extend dataset to 2025 and beyond</a:t>
            </a:r>
          </a:p>
          <a:p>
            <a:pPr>
              <a:spcAft>
                <a:spcPts val="1000"/>
              </a:spcAft>
              <a:defRPr sz="2000"/>
            </a:pPr>
            <a:r>
              <a:t>   • Non-linear dimensionality reduction</a:t>
            </a:r>
          </a:p>
          <a:p>
            <a:pPr>
              <a:spcAft>
                <a:spcPts val="1000"/>
              </a:spcAft>
              <a:defRPr sz="2000"/>
            </a:pPr>
            <a:r>
              <a:t>   • Dynamic factor models and ML integration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Thank You!</a:t>
            </a:r>
          </a:p>
          <a:p>
            <a:pPr>
              <a:spcAft>
                <a:spcPts val="1000"/>
              </a:spcAft>
              <a:defRPr sz="2000"/>
            </a:pPr>
            <a:r>
              <a:t>I welcome your questions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</TotalTime>
  <Words>1161</Words>
  <Application>Microsoft Office PowerPoint</Application>
  <PresentationFormat>Widescreen</PresentationFormat>
  <Paragraphs>201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Rockwell</vt:lpstr>
      <vt:lpstr>Rockwell Condensed</vt:lpstr>
      <vt:lpstr>Wingdings</vt:lpstr>
      <vt:lpstr>Wood Type</vt:lpstr>
      <vt:lpstr>The Intrinsic Dimensionality of the Stock Market: A Geometric Approach to Factor-Based Market Analysis</vt:lpstr>
      <vt:lpstr>Agenda</vt:lpstr>
      <vt:lpstr>Introduction – Background of the Indian Equity Market</vt:lpstr>
      <vt:lpstr>The Curse of Dimensionality in Financial Markets</vt:lpstr>
      <vt:lpstr>Geometric Perspective: Markets as High-Dimensional Objects</vt:lpstr>
      <vt:lpstr>Motivation &amp; Research Objectives</vt:lpstr>
      <vt:lpstr>Main Contributions &amp; Highlights</vt:lpstr>
      <vt:lpstr>Novelty – Relation to Existing Literature</vt:lpstr>
      <vt:lpstr>Proof of Correctness – Why Our Work is Reliable</vt:lpstr>
      <vt:lpstr>Mathematical Foundations</vt:lpstr>
      <vt:lpstr>Connection to Random Matrix Theory</vt:lpstr>
      <vt:lpstr>Data Collection – Fixed NIFTY 500 Universe</vt:lpstr>
      <vt:lpstr>Preprocessing &amp; Dataset Characteristics</vt:lpstr>
      <vt:lpstr>Research Methodology Overview</vt:lpstr>
      <vt:lpstr>PowerPoint Presentation</vt:lpstr>
      <vt:lpstr>PowerPoint Presentation</vt:lpstr>
      <vt:lpstr>Subperiod Analysis – Definition &amp; Economic Context</vt:lpstr>
      <vt:lpstr>PowerPoint Presentation</vt:lpstr>
      <vt:lpstr>PowerPoint Presentation</vt:lpstr>
      <vt:lpstr>Economic Interpretation of Principal Components</vt:lpstr>
      <vt:lpstr>Key Market Insights &amp; Robustness</vt:lpstr>
      <vt:lpstr>Scale of This Study</vt:lpstr>
      <vt:lpstr>Extensibility of the Work</vt:lpstr>
      <vt:lpstr>Predictive Potential – Can It Predict Future Prices?</vt:lpstr>
      <vt:lpstr>Why Dataset Only Till 2020?</vt:lpstr>
      <vt:lpstr>Limitations of the Study</vt:lpstr>
      <vt:lpstr>Conclusion &amp; Main Takeaways</vt:lpstr>
      <vt:lpstr>Future Work &amp;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Rohan Kumar Mahato</cp:lastModifiedBy>
  <cp:revision>2</cp:revision>
  <dcterms:created xsi:type="dcterms:W3CDTF">2013-01-27T09:14:16Z</dcterms:created>
  <dcterms:modified xsi:type="dcterms:W3CDTF">2026-04-25T10:00:03Z</dcterms:modified>
  <cp:category/>
</cp:coreProperties>
</file>